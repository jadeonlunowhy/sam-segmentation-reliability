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110bbc9797d84d6e" /><Relationship Type="http://schemas.openxmlformats.org/officeDocument/2006/relationships/extended-properties" Target="/docProps/app.xml" Id="R65ac496f90d54e52" /><Relationship Type="http://schemas.openxmlformats.org/officeDocument/2006/relationships/officeDocument" Target="/ppt/presentation.xml" Id="R2bcf5a038a89449e" /></Relationships>
</file>

<file path=ppt/presentation.xml><?xml version="1.0" encoding="utf-8"?>
<p:presentation xmlns:p="http://schemas.openxmlformats.org/presentationml/2006/main">
  <p:sldMasterIdLst>
    <p:sldMasterId xmlns:r="http://schemas.openxmlformats.org/officeDocument/2006/relationships" id="2147483648" r:id="R671cab05704c4c2a"/>
  </p:sldMasterIdLst>
  <p:notesMasterIdLst>
    <p:notesMasterId xmlns:r="http://schemas.openxmlformats.org/officeDocument/2006/relationships" r:id="R15253033ec984337"/>
  </p:notesMasterIdLst>
  <p:sldIdLst>
    <p:sldId xmlns:r="http://schemas.openxmlformats.org/officeDocument/2006/relationships" id="256" r:id="Rec9af2966d174c91"/>
    <p:sldId xmlns:r="http://schemas.openxmlformats.org/officeDocument/2006/relationships" id="257" r:id="R06617390f9bf4030"/>
    <p:sldId xmlns:r="http://schemas.openxmlformats.org/officeDocument/2006/relationships" id="258" r:id="R9b1f01824fc74118"/>
    <p:sldId xmlns:r="http://schemas.openxmlformats.org/officeDocument/2006/relationships" id="259" r:id="Rfd1e4722ed49414d"/>
    <p:sldId xmlns:r="http://schemas.openxmlformats.org/officeDocument/2006/relationships" id="260" r:id="Re403bba6e2f84f0a"/>
    <p:sldId xmlns:r="http://schemas.openxmlformats.org/officeDocument/2006/relationships" id="261" r:id="R159621d7207945bd"/>
    <p:sldId xmlns:r="http://schemas.openxmlformats.org/officeDocument/2006/relationships" id="262" r:id="Re757fe39fe474440"/>
    <p:sldId xmlns:r="http://schemas.openxmlformats.org/officeDocument/2006/relationships" id="263" r:id="Rb846d5737b6f4bce"/>
    <p:sldId xmlns:r="http://schemas.openxmlformats.org/officeDocument/2006/relationships" id="264" r:id="R397797b3ba154e3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1ca6fb9679049f6" /><Relationship Type="http://schemas.openxmlformats.org/officeDocument/2006/relationships/slideMaster" Target="/ppt/slideMasters/slideMaster1.xml" Id="R671cab05704c4c2a" /><Relationship Type="http://schemas.openxmlformats.org/officeDocument/2006/relationships/notesMaster" Target="/ppt/notesMasters/notesMaster1.xml" Id="R15253033ec984337" /><Relationship Type="http://schemas.openxmlformats.org/officeDocument/2006/relationships/presProps" Target="/ppt/presProps.xml" Id="Rb2ac9d8a13354af5" /><Relationship Type="http://schemas.openxmlformats.org/officeDocument/2006/relationships/tableStyles" Target="/ppt/tableStyles.xml" Id="R10966bacc2f646ff" /><Relationship Type="http://schemas.openxmlformats.org/officeDocument/2006/relationships/slide" Target="/ppt/slides/slide1.xml" Id="Rec9af2966d174c91" /><Relationship Type="http://schemas.openxmlformats.org/officeDocument/2006/relationships/slide" Target="/ppt/slides/slide2.xml" Id="R06617390f9bf4030" /><Relationship Type="http://schemas.openxmlformats.org/officeDocument/2006/relationships/slide" Target="/ppt/slides/slide3.xml" Id="R9b1f01824fc74118" /><Relationship Type="http://schemas.openxmlformats.org/officeDocument/2006/relationships/slide" Target="/ppt/slides/slide4.xml" Id="Rfd1e4722ed49414d" /><Relationship Type="http://schemas.openxmlformats.org/officeDocument/2006/relationships/slide" Target="/ppt/slides/slide5.xml" Id="Re403bba6e2f84f0a" /><Relationship Type="http://schemas.openxmlformats.org/officeDocument/2006/relationships/slide" Target="/ppt/slides/slide6.xml" Id="R159621d7207945bd" /><Relationship Type="http://schemas.openxmlformats.org/officeDocument/2006/relationships/slide" Target="/ppt/slides/slide7.xml" Id="Re757fe39fe474440" /><Relationship Type="http://schemas.openxmlformats.org/officeDocument/2006/relationships/slide" Target="/ppt/slides/slide8.xml" Id="Rb846d5737b6f4bce" /><Relationship Type="http://schemas.openxmlformats.org/officeDocument/2006/relationships/slide" Target="/ppt/slides/slide9.xml" Id="R397797b3ba154e3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176508392914d0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70410a3e4d64f07" /><Relationship Type="http://schemas.openxmlformats.org/officeDocument/2006/relationships/notesMaster" Target="/ppt/notesMasters/notesMaster1.xml" Id="R13ea87bcfcd64836" /></Relationships>
</file>

<file path=ppt/notesSlides/_rels/notesSlide2.xml.rels>&#65279;<?xml version="1.0" encoding="utf-8"?><Relationships xmlns="http://schemas.openxmlformats.org/package/2006/relationships"><Relationship Type="http://schemas.openxmlformats.org/officeDocument/2006/relationships/slide" Target="/ppt/slides/slide2.xml" Id="R8cbd99c85403462e" /><Relationship Type="http://schemas.openxmlformats.org/officeDocument/2006/relationships/notesMaster" Target="/ppt/notesMasters/notesMaster1.xml" Id="R8b3c4ed6c19848ea" /></Relationships>
</file>

<file path=ppt/notesSlides/_rels/notesSlide3.xml.rels>&#65279;<?xml version="1.0" encoding="utf-8"?><Relationships xmlns="http://schemas.openxmlformats.org/package/2006/relationships"><Relationship Type="http://schemas.openxmlformats.org/officeDocument/2006/relationships/slide" Target="/ppt/slides/slide3.xml" Id="R0a602ddc335f431d" /><Relationship Type="http://schemas.openxmlformats.org/officeDocument/2006/relationships/notesMaster" Target="/ppt/notesMasters/notesMaster1.xml" Id="Rdf0a4df48c054e8e" /></Relationships>
</file>

<file path=ppt/notesSlides/_rels/notesSlide4.xml.rels>&#65279;<?xml version="1.0" encoding="utf-8"?><Relationships xmlns="http://schemas.openxmlformats.org/package/2006/relationships"><Relationship Type="http://schemas.openxmlformats.org/officeDocument/2006/relationships/slide" Target="/ppt/slides/slide4.xml" Id="R7871de399dcc4208" /><Relationship Type="http://schemas.openxmlformats.org/officeDocument/2006/relationships/notesMaster" Target="/ppt/notesMasters/notesMaster1.xml" Id="R9561a7ce3923428c" /></Relationships>
</file>

<file path=ppt/notesSlides/_rels/notesSlide5.xml.rels>&#65279;<?xml version="1.0" encoding="utf-8"?><Relationships xmlns="http://schemas.openxmlformats.org/package/2006/relationships"><Relationship Type="http://schemas.openxmlformats.org/officeDocument/2006/relationships/slide" Target="/ppt/slides/slide5.xml" Id="R6dafeb9cfdab4c31" /><Relationship Type="http://schemas.openxmlformats.org/officeDocument/2006/relationships/notesMaster" Target="/ppt/notesMasters/notesMaster1.xml" Id="R792dc929f820442f" /></Relationships>
</file>

<file path=ppt/notesSlides/_rels/notesSlide6.xml.rels>&#65279;<?xml version="1.0" encoding="utf-8"?><Relationships xmlns="http://schemas.openxmlformats.org/package/2006/relationships"><Relationship Type="http://schemas.openxmlformats.org/officeDocument/2006/relationships/slide" Target="/ppt/slides/slide6.xml" Id="R9425850ff34d4c8a" /><Relationship Type="http://schemas.openxmlformats.org/officeDocument/2006/relationships/notesMaster" Target="/ppt/notesMasters/notesMaster1.xml" Id="Radeaa9226aff4489" /></Relationships>
</file>

<file path=ppt/notesSlides/_rels/notesSlide7.xml.rels>&#65279;<?xml version="1.0" encoding="utf-8"?><Relationships xmlns="http://schemas.openxmlformats.org/package/2006/relationships"><Relationship Type="http://schemas.openxmlformats.org/officeDocument/2006/relationships/slide" Target="/ppt/slides/slide7.xml" Id="R1267de5c5b8a4c6b" /><Relationship Type="http://schemas.openxmlformats.org/officeDocument/2006/relationships/notesMaster" Target="/ppt/notesMasters/notesMaster1.xml" Id="Ra95c32b1325b462c" /></Relationships>
</file>

<file path=ppt/notesSlides/_rels/notesSlide8.xml.rels>&#65279;<?xml version="1.0" encoding="utf-8"?><Relationships xmlns="http://schemas.openxmlformats.org/package/2006/relationships"><Relationship Type="http://schemas.openxmlformats.org/officeDocument/2006/relationships/slide" Target="/ppt/slides/slide8.xml" Id="Rfecb9bd45a0643f0" /><Relationship Type="http://schemas.openxmlformats.org/officeDocument/2006/relationships/notesMaster" Target="/ppt/notesMasters/notesMaster1.xml" Id="R19f87e67c6d34119" /></Relationships>
</file>

<file path=ppt/notesSlides/_rels/notesSlide9.xml.rels>&#65279;<?xml version="1.0" encoding="utf-8"?><Relationships xmlns="http://schemas.openxmlformats.org/package/2006/relationships"><Relationship Type="http://schemas.openxmlformats.org/officeDocument/2006/relationships/slide" Target="/ppt/slides/slide9.xml" Id="R651d6889a97f491c" /><Relationship Type="http://schemas.openxmlformats.org/officeDocument/2006/relationships/notesMaster" Target="/ppt/notesMasters/notesMaster1.xml" Id="R266d6a9fefc1450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project asks when a frozen segmentation model can recognize its own failures. We use the original Segment Anything Model, or SAM, without training or fine-tuning. The aim is to rank unreliable masks for review. We do not alter the mask itself. Our strongest counterargument is simple: a model can produce the same wrong segmentation repeatedly. We test that possibility instead of assuming stability means correctness.</a:t>
            </a:r>
          </a:p>
          <a:p xmlns:a="http://schemas.openxmlformats.org/drawingml/2006/main">
            <a:r>
              <a:t>Sources: docs/design.md; results/summary.json; results/bootstrap.json; results/budget_timing.json.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SAM predicts its own mask quality. PointPrompt studies the role of prompts. Prompt perturbation uncertainty also already exists, including a recent medical-image study with largely negative comparisons. We therefore do not claim a new uncertainty principle. Our contribution is a controlled natural-image analysis of click position, perturbation radius, compute budget, and a separate public image corpus.</a:t>
            </a:r>
          </a:p>
          <a:p xmlns:a="http://schemas.openxmlformats.org/drawingml/2006/main">
            <a:r>
              <a:t>Sources: docs/design.md; results/summary.json; results/bootstrap.json; results/budget_timing.json.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split the main dataset by image: forty-five validation images and one hundred and six test images. We separately download seventy-four Pet images, two per breed. Each image has an interior and a boundary click simulated from annotations. Labels are used only for simulation and evaluation. All scoring code receives the image, click and predictions. Uncertain annotation borders are ignored, and every image's two clicks stay together in statistical resampling.</a:t>
            </a:r>
          </a:p>
          <a:p xmlns:a="http://schemas.openxmlformats.org/drawingml/2006/main">
            <a:r>
              <a:t>Sources: docs/design.md; results/summary.json; results/bootstrap.json; results/budget_timing.json.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baselines are SAM confidence, threshold stability and horizontal-flip consistency. Our prompt score averages overlap between the original mask and nearby-click masks. We also test minimum overlap and equal-weight fusion with confidence. We sweep three radii and three budgets. Validation chooses r0.06_k8; that choice is frozen before test evaluation. Nearby clicks may leave the object, so we record that diagnostic instead of secretly fixing prompts with labels.</a:t>
            </a:r>
          </a:p>
          <a:p xmlns:a="http://schemas.openxmlformats.org/drawingml/2006/main">
            <a:r>
              <a:t>Sources: docs/design.md; results/summary.json; results/bootstrap.json; results/budget_timing.json.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 the main test set the original masks have mean IoU 0.475. Confidence has AURC 0.430, and fusion has AURC 0.333. Lower is better. The paired difference is -0.0971. The ninety-five percent interval runs from -0.1449 to -0.0528. It excludes zero within this evaluation protocol. The curves show whether refusing low-confidence cases actually lowers retained error.</a:t>
            </a:r>
          </a:p>
          <a:p xmlns:a="http://schemas.openxmlformats.org/drawingml/2006/main">
            <a:r>
              <a:t>Sources: docs/design.md; results/summary.json; results/bootstrap.json; results/budget_timing.json.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apply exactly the same configuration to the Pet corpus. Mean IoU is 0.812; confidence AURC is 0.103, compared with fusion AURC 0.051. This checks sensitivity to a second set of natural images. It does not establish that those images were absent from SAM pretraining. We separately inspect radius and budget sensitivity, and report subgroup results as exploratory.</a:t>
            </a:r>
          </a:p>
          <a:p xmlns:a="http://schemas.openxmlformats.org/drawingml/2006/main">
            <a:r>
              <a:t>Sources: docs/design.md; results/summary.json; results/bootstrap.json; results/budget_timing.json.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define a stable failure in advance as prompt consistency at least point nine and true IoU below point five. There are 2 such main-test cases and 0 Pet cases. The examples show the original image, the reference object and the prediction. These cases reveal the fundamental limitation: agreement can describe a repeated mistake. A reliable screening method must be tested against labels, even when it does not use labels at inference.</a:t>
            </a:r>
          </a:p>
          <a:p xmlns:a="http://schemas.openxmlformats.org/drawingml/2006/main">
            <a:r>
              <a:t>Sources: docs/design.md; results/summary.json; results/bootstrap.json; results/budget_timing.json.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Prompt variations reuse one cached image embedding, while horizontal flip needs another encoder pass. We measure actual batches of two, four and eight decodes on five validation images, rather than assuming cost scales linearly. The full experimental sweep costs more than deploying just the chosen method. Quality and cost must be read together: cheap inference is useful only if its ranking is informative.</a:t>
            </a:r>
          </a:p>
          <a:p xmlns:a="http://schemas.openxmlformats.org/drawingml/2006/main">
            <a:r>
              <a:t>Sources: docs/design.md; results/summary.json; results/bootstrap.json; results/budget_timing.json.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project provides executable code, preserved observations, controlled comparisons and image-level bootstrap intervals, with no training. Its conclusion follows the measured results, including negative findings. Limits include simulated users, one backbone and finite datasets. Future work should test real user clicks and additional models. Each team member should present their assigned section and document their actual contribution.</a:t>
            </a:r>
          </a:p>
          <a:p xmlns:a="http://schemas.openxmlformats.org/drawingml/2006/main">
            <a:r>
              <a:t>Sources: docs/design.md; results/summary.json; results/bootstrap.json; results/budget_timing.json.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67d7a788bf0436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86641eaf776427f" /><Relationship Type="http://schemas.openxmlformats.org/officeDocument/2006/relationships/slideLayout" Target="/ppt/slideLayouts/slideLayout1.xml" Id="R0cc8b1e1c1f843c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cc8b1e1c1f843c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b24720b415d4c4c" /><Relationship Type="http://schemas.openxmlformats.org/officeDocument/2006/relationships/notesSlide" Target="/ppt/notesSlides/notesSlide1.xml" Id="R88614cf2ffad48d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e7ef027eff1454b" /><Relationship Type="http://schemas.openxmlformats.org/officeDocument/2006/relationships/notesSlide" Target="/ppt/notesSlides/notesSlide2.xml" Id="R23f1e93da5ad444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2cd1ad442b949e0" /><Relationship Type="http://schemas.openxmlformats.org/officeDocument/2006/relationships/notesSlide" Target="/ppt/notesSlides/notesSlide3.xml" Id="R43bbb7231b544b3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e2f461ba6364821" /><Relationship Type="http://schemas.openxmlformats.org/officeDocument/2006/relationships/notesSlide" Target="/ppt/notesSlides/notesSlide4.xml" Id="Rdcbd594ce1f243a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9b61439f90e49f6" /><Relationship Type="http://schemas.openxmlformats.org/officeDocument/2006/relationships/image" Target="/ppt/media/image.png" Id="Ra071dea24a54401f" /><Relationship Type="http://schemas.openxmlformats.org/officeDocument/2006/relationships/notesSlide" Target="/ppt/notesSlides/notesSlide5.xml" Id="R3ccae3ccc07a4ad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7d47ae75fb74141" /><Relationship Type="http://schemas.openxmlformats.org/officeDocument/2006/relationships/image" Target="/ppt/media/image2.png" Id="R8ce91afcba104a47" /><Relationship Type="http://schemas.openxmlformats.org/officeDocument/2006/relationships/notesSlide" Target="/ppt/notesSlides/notesSlide6.xml" Id="Re928577cf32e4b2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34f36662c894a79" /><Relationship Type="http://schemas.openxmlformats.org/officeDocument/2006/relationships/image" Target="/ppt/media/image3.png" Id="R0c12ece3ed28491e" /><Relationship Type="http://schemas.openxmlformats.org/officeDocument/2006/relationships/notesSlide" Target="/ppt/notesSlides/notesSlide7.xml" Id="R055b6875c2b64d0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8e4120d485c4e37" /><Relationship Type="http://schemas.openxmlformats.org/officeDocument/2006/relationships/chart" Target="/ppt/slides/charts/chart1.xml" Id="R116e8390a72a4a84" /><Relationship Type="http://schemas.openxmlformats.org/officeDocument/2006/relationships/notesSlide" Target="/ppt/notesSlides/notesSlide8.xml" Id="R2501e6e21a3241b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b6d6ece37504f15" /><Relationship Type="http://schemas.openxmlformats.org/officeDocument/2006/relationships/notesSlide" Target="/ppt/notesSlides/notesSlide9.xml" Id="Rc89f565fb9774867"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a:latin typeface="Arial"/>
                <a:ea typeface="Arial"/>
                <a:cs typeface="Arial"/>
              </a:rPr>
              <a:t>Mean additional inference time (milliseconds)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plotArea>
      <c:barChart>
        <c:barDir val="col"/>
        <c:grouping val="clustered"/>
        <c:varyColors val="0"/>
        <c:ser>
          <c:idx val="0"/>
          <c:order val="0"/>
          <c:tx>
            <c:v>Milliseconds</c:v>
          </c:tx>
          <c:spPr>
            <a:solidFill xmlns:a="http://schemas.openxmlformats.org/drawingml/2006/main">
              <a:srgbClr val="28658F"/>
            </a:solidFill>
          </c:spPr>
          <c:cat>
            <c:strRef>
              <c:f>'Chart Data'!$A$2:$A$5</c:f>
              <c:strCache>
                <c:ptCount val="4"/>
                <c:pt idx="0">
                  <c:v>K = 2</c:v>
                </c:pt>
                <c:pt idx="1">
                  <c:v>K = 4</c:v>
                </c:pt>
                <c:pt idx="2">
                  <c:v>K = 8</c:v>
                </c:pt>
                <c:pt idx="3">
                  <c:v>Horizontal flip</c:v>
                </c:pt>
              </c:strCache>
            </c:strRef>
          </c:cat>
          <c:val>
            <c:numRef>
              <c:f>'Chart Data'!$B$2:$B$5</c:f>
              <c:numCache>
                <c:formatCode>0.00</c:formatCode>
                <c:ptCount val="4"/>
                <c:pt idx="0">
                  <c:v>7.67</c:v>
                </c:pt>
                <c:pt idx="1">
                  <c:v>10.779</c:v>
                </c:pt>
                <c:pt idx="2">
                  <c:v>19.83</c:v>
                </c:pt>
                <c:pt idx="3">
                  <c:v>276.974</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72768"/>
      </c:catAx>
      <c:valAx>
        <c:axId val="48672768"/>
        <c:scaling>
          <c:orientation val="minMax"/>
        </c:scaling>
        <c:delete val="0"/>
        <c:axPos val="l"/>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DD947A3-DA89-4955-A7DB-A79952741AA7}"/>
              </a:ext>
            </a:extLst>
          </p:cNvPr>
          <p:cNvSpPr>
            <a:spLocks xmlns:a="http://schemas.openxmlformats.org/drawingml/2006/main" noGrp="1"/>
          </p:cNvSpPr>
          <p:nvPr/>
        </p:nvSpPr>
        <p:spPr>
          <a:xfrm xmlns:a="http://schemas.openxmlformats.org/drawingml/2006/main">
            <a:off x="609600" y="41910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24C"/>
                </a:solidFill>
                <a:latin typeface="Arial"/>
                <a:ea typeface="Arial"/>
                <a:cs typeface="Arial"/>
              </a:defRPr>
            </a:pPr>
            <a:r>
              <a:rPr sz="3300" b="1">
                <a:solidFill>
                  <a:srgbClr val="18324C"/>
                </a:solidFill>
                <a:latin typeface="Arial"/>
                <a:ea typeface="Arial"/>
                <a:cs typeface="Arial"/>
              </a:rPr>
              <a:t>Training-Free Reliability Screening</a:t>
            </a:r>
          </a:p>
        </p:txBody>
      </p:sp>
      <p:sp>
        <p:nvSpPr>
          <p:cNvPr id="2" name="">
            <a:extLst xmlns:a="http://schemas.openxmlformats.org/drawingml/2006/main">
              <a:ext uri="{FF2B5EF4-FFF2-40B4-BE49-F238E27FC236}">
                <a16:creationId xmlns:a16="http://schemas.microsoft.com/office/drawing/2014/main" id="{C9CA3960-094E-4CC0-BE32-3ED246445AC1}"/>
              </a:ext>
            </a:extLst>
          </p:cNvPr>
          <p:cNvSpPr>
            <a:spLocks xmlns:a="http://schemas.openxmlformats.org/drawingml/2006/main" noGrp="1"/>
          </p:cNvSpPr>
          <p:nvPr/>
        </p:nvSpPr>
        <p:spPr>
          <a:xfrm xmlns:a="http://schemas.openxmlformats.org/drawingml/2006/main">
            <a:off x="11239500" y="6438900"/>
            <a:ext cx="342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18096"/>
                </a:solidFill>
                <a:latin typeface="Arial"/>
                <a:ea typeface="Arial"/>
                <a:cs typeface="Arial"/>
              </a:defRPr>
            </a:pPr>
            <a:r>
              <a:rPr sz="1350" b="0">
                <a:solidFill>
                  <a:srgbClr val="718096"/>
                </a:solidFill>
                <a:latin typeface="Arial"/>
                <a:ea typeface="Arial"/>
                <a:cs typeface="Arial"/>
              </a:rPr>
              <a:t>1</a:t>
            </a:r>
          </a:p>
        </p:txBody>
      </p:sp>
      <p:sp>
        <p:nvSpPr>
          <p:cNvPr id="3" name="">
            <a:extLst xmlns:a="http://schemas.openxmlformats.org/drawingml/2006/main">
              <a:ext uri="{FF2B5EF4-FFF2-40B4-BE49-F238E27FC236}">
                <a16:creationId xmlns:a16="http://schemas.microsoft.com/office/drawing/2014/main" id="{26258AA4-0ADC-42A9-BA80-89D4089FDE28}"/>
              </a:ext>
            </a:extLst>
          </p:cNvPr>
          <p:cNvSpPr>
            <a:spLocks xmlns:a="http://schemas.openxmlformats.org/drawingml/2006/main" noGrp="1"/>
          </p:cNvSpPr>
          <p:nvPr/>
        </p:nvSpPr>
        <p:spPr>
          <a:xfrm xmlns:a="http://schemas.openxmlformats.org/drawingml/2006/main">
            <a:off x="609600" y="1266825"/>
            <a:ext cx="1095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8324C"/>
                </a:solidFill>
                <a:latin typeface="Arial"/>
                <a:ea typeface="Arial"/>
                <a:cs typeface="Arial"/>
              </a:defRPr>
            </a:pPr>
            <a:r>
              <a:rPr sz="3600" b="1">
                <a:solidFill>
                  <a:srgbClr val="18324C"/>
                </a:solidFill>
                <a:latin typeface="Arial"/>
                <a:ea typeface="Arial"/>
                <a:cs typeface="Arial"/>
              </a:rPr>
              <a:t>for Prompted Segmentation</a:t>
            </a:r>
          </a:p>
        </p:txBody>
      </p:sp>
      <p:sp>
        <p:nvSpPr>
          <p:cNvPr id="4" name="">
            <a:extLst xmlns:a="http://schemas.openxmlformats.org/drawingml/2006/main">
              <a:ext uri="{FF2B5EF4-FFF2-40B4-BE49-F238E27FC236}">
                <a16:creationId xmlns:a16="http://schemas.microsoft.com/office/drawing/2014/main" id="{FD143BDD-A057-428B-8E51-517ADE8E2BCA}"/>
              </a:ext>
            </a:extLst>
          </p:cNvPr>
          <p:cNvSpPr>
            <a:spLocks xmlns:a="http://schemas.openxmlformats.org/drawingml/2006/main" noGrp="1"/>
          </p:cNvSpPr>
          <p:nvPr/>
        </p:nvSpPr>
        <p:spPr>
          <a:xfrm xmlns:a="http://schemas.openxmlformats.org/drawingml/2006/main">
            <a:off x="609600" y="2428875"/>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18324C"/>
                </a:solidFill>
                <a:latin typeface="Arial"/>
                <a:ea typeface="Arial"/>
                <a:cs typeface="Arial"/>
              </a:defRPr>
            </a:pPr>
            <a:r>
              <a:rPr sz="2700" b="0">
                <a:solidFill>
                  <a:srgbClr val="18324C"/>
                </a:solidFill>
                <a:latin typeface="Arial"/>
                <a:ea typeface="Arial"/>
                <a:cs typeface="Arial"/>
              </a:rPr>
              <a:t>When does a stable mask still fail?</a:t>
            </a:r>
          </a:p>
        </p:txBody>
      </p:sp>
      <p:sp>
        <p:nvSpPr>
          <p:cNvPr id="5" name="">
            <a:extLst xmlns:a="http://schemas.openxmlformats.org/drawingml/2006/main">
              <a:ext uri="{FF2B5EF4-FFF2-40B4-BE49-F238E27FC236}">
                <a16:creationId xmlns:a16="http://schemas.microsoft.com/office/drawing/2014/main" id="{1485A638-5565-4D43-9A44-DDF630FEB6A3}"/>
              </a:ext>
            </a:extLst>
          </p:cNvPr>
          <p:cNvSpPr>
            <a:spLocks xmlns:a="http://schemas.openxmlformats.org/drawingml/2006/main" noGrp="1"/>
          </p:cNvSpPr>
          <p:nvPr/>
        </p:nvSpPr>
        <p:spPr>
          <a:xfrm xmlns:a="http://schemas.openxmlformats.org/drawingml/2006/main">
            <a:off x="609600" y="3429000"/>
            <a:ext cx="109537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8324C"/>
                </a:solidFill>
                <a:latin typeface="Arial"/>
                <a:ea typeface="Arial"/>
                <a:cs typeface="Arial"/>
              </a:defRPr>
            </a:pPr>
            <a:r>
              <a:rPr sz="2250" b="0">
                <a:solidFill>
                  <a:srgbClr val="18324C"/>
                </a:solidFill>
                <a:latin typeface="Arial"/>
                <a:ea typeface="Arial"/>
                <a:cs typeface="Arial"/>
              </a:rPr>
              <a:t>Frozen SAM ViT-B</a:t>
            </a:r>
          </a:p>
          <a:p xmlns:a="http://schemas.openxmlformats.org/drawingml/2006/main">
            <a:pPr>
              <a:defRPr sz="2250" b="0">
                <a:solidFill>
                  <a:srgbClr val="18324C"/>
                </a:solidFill>
                <a:latin typeface="Arial"/>
                <a:ea typeface="Arial"/>
                <a:cs typeface="Arial"/>
              </a:defRPr>
            </a:pPr>
            <a:r>
              <a:rPr sz="2250" b="0">
                <a:solidFill>
                  <a:srgbClr val="18324C"/>
                </a:solidFill>
                <a:latin typeface="Arial"/>
                <a:ea typeface="Arial"/>
                <a:cs typeface="Arial"/>
              </a:rPr>
              <a:t>Controlled natural-image experiments</a:t>
            </a:r>
          </a:p>
          <a:p xmlns:a="http://schemas.openxmlformats.org/drawingml/2006/main">
            <a:pPr>
              <a:defRPr sz="2250" b="0">
                <a:solidFill>
                  <a:srgbClr val="18324C"/>
                </a:solidFill>
                <a:latin typeface="Arial"/>
                <a:ea typeface="Arial"/>
                <a:cs typeface="Arial"/>
              </a:defRPr>
            </a:pPr>
            <a:r>
              <a:rPr sz="2250" b="0">
                <a:solidFill>
                  <a:srgbClr val="18324C"/>
                </a:solidFill>
                <a:latin typeface="Arial"/>
                <a:ea typeface="Arial"/>
                <a:cs typeface="Arial"/>
              </a:rPr>
              <a:t>No model training or learned uncertainty head</a:t>
            </a:r>
          </a:p>
        </p:txBody>
      </p:sp>
      <p:sp>
        <p:nvSpPr>
          <p:cNvPr id="6" name="">
            <a:extLst xmlns:a="http://schemas.openxmlformats.org/drawingml/2006/main">
              <a:ext uri="{FF2B5EF4-FFF2-40B4-BE49-F238E27FC236}">
                <a16:creationId xmlns:a16="http://schemas.microsoft.com/office/drawing/2014/main" id="{88E9B49C-01C0-45C5-9CA5-9CD1ED28F82A}"/>
              </a:ext>
            </a:extLst>
          </p:cNvPr>
          <p:cNvSpPr>
            <a:spLocks xmlns:a="http://schemas.openxmlformats.org/drawingml/2006/main" noGrp="1"/>
          </p:cNvSpPr>
          <p:nvPr/>
        </p:nvSpPr>
        <p:spPr>
          <a:xfrm xmlns:a="http://schemas.openxmlformats.org/drawingml/2006/main">
            <a:off x="609600" y="5905500"/>
            <a:ext cx="1095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61758B"/>
                </a:solidFill>
                <a:latin typeface="Arial"/>
                <a:ea typeface="Arial"/>
                <a:cs typeface="Arial"/>
              </a:defRPr>
            </a:pPr>
            <a:r>
              <a:rPr sz="1650" b="0">
                <a:solidFill>
                  <a:srgbClr val="61758B"/>
                </a:solidFill>
                <a:latin typeface="Arial"/>
                <a:ea typeface="Arial"/>
                <a:cs typeface="Arial"/>
              </a:rPr>
              <a:t>Course project | Real observations and image-level bootstrap intervals</a:t>
            </a:r>
          </a:p>
        </p:txBody>
      </p:sp>
    </p:spTree>
    <p:extLst>
      <p:ext uri="{BB962C8B-B14F-4D97-AF65-F5344CB8AC3E}">
        <p14:creationId xmlns:p14="http://schemas.microsoft.com/office/powerpoint/2010/main" val="25599282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81F4691-4F53-405B-9319-6682A3C738F2}"/>
              </a:ext>
            </a:extLst>
          </p:cNvPr>
          <p:cNvSpPr>
            <a:spLocks xmlns:a="http://schemas.openxmlformats.org/drawingml/2006/main" noGrp="1"/>
          </p:cNvSpPr>
          <p:nvPr/>
        </p:nvSpPr>
        <p:spPr>
          <a:xfrm xmlns:a="http://schemas.openxmlformats.org/drawingml/2006/main">
            <a:off x="609600" y="41910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24C"/>
                </a:solidFill>
                <a:latin typeface="Arial"/>
                <a:ea typeface="Arial"/>
                <a:cs typeface="Arial"/>
              </a:defRPr>
            </a:pPr>
            <a:r>
              <a:rPr sz="3300" b="1">
                <a:solidFill>
                  <a:srgbClr val="18324C"/>
                </a:solidFill>
                <a:latin typeface="Arial"/>
                <a:ea typeface="Arial"/>
                <a:cs typeface="Arial"/>
              </a:rPr>
              <a:t>Research context and contribution</a:t>
            </a:r>
          </a:p>
        </p:txBody>
      </p:sp>
      <p:sp>
        <p:nvSpPr>
          <p:cNvPr id="2" name="">
            <a:extLst xmlns:a="http://schemas.openxmlformats.org/drawingml/2006/main">
              <a:ext uri="{FF2B5EF4-FFF2-40B4-BE49-F238E27FC236}">
                <a16:creationId xmlns:a16="http://schemas.microsoft.com/office/drawing/2014/main" id="{5CFD9C05-557E-48BE-9065-CB822AE5B373}"/>
              </a:ext>
            </a:extLst>
          </p:cNvPr>
          <p:cNvSpPr>
            <a:spLocks xmlns:a="http://schemas.openxmlformats.org/drawingml/2006/main" noGrp="1"/>
          </p:cNvSpPr>
          <p:nvPr/>
        </p:nvSpPr>
        <p:spPr>
          <a:xfrm xmlns:a="http://schemas.openxmlformats.org/drawingml/2006/main">
            <a:off x="11239500" y="6438900"/>
            <a:ext cx="342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18096"/>
                </a:solidFill>
                <a:latin typeface="Arial"/>
                <a:ea typeface="Arial"/>
                <a:cs typeface="Arial"/>
              </a:defRPr>
            </a:pPr>
            <a:r>
              <a:rPr sz="1350" b="0">
                <a:solidFill>
                  <a:srgbClr val="718096"/>
                </a:solidFill>
                <a:latin typeface="Arial"/>
                <a:ea typeface="Arial"/>
                <a:cs typeface="Arial"/>
              </a:rPr>
              <a:t>2</a:t>
            </a:r>
          </a:p>
        </p:txBody>
      </p:sp>
      <p:sp>
        <p:nvSpPr>
          <p:cNvPr id="3" name="">
            <a:extLst xmlns:a="http://schemas.openxmlformats.org/drawingml/2006/main">
              <a:ext uri="{FF2B5EF4-FFF2-40B4-BE49-F238E27FC236}">
                <a16:creationId xmlns:a16="http://schemas.microsoft.com/office/drawing/2014/main" id="{AA4F9C5E-68FA-4F86-A76E-63BD01BAB3B3}"/>
              </a:ext>
            </a:extLst>
          </p:cNvPr>
          <p:cNvSpPr>
            <a:spLocks xmlns:a="http://schemas.openxmlformats.org/drawingml/2006/main" noGrp="1"/>
          </p:cNvSpPr>
          <p:nvPr/>
        </p:nvSpPr>
        <p:spPr>
          <a:xfrm xmlns:a="http://schemas.openxmlformats.org/drawingml/2006/main">
            <a:off x="609600" y="1476375"/>
            <a:ext cx="4953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8324C"/>
                </a:solidFill>
                <a:latin typeface="Arial"/>
                <a:ea typeface="Arial"/>
                <a:cs typeface="Arial"/>
              </a:defRPr>
            </a:pPr>
            <a:r>
              <a:rPr sz="2400" b="1">
                <a:solidFill>
                  <a:srgbClr val="18324C"/>
                </a:solidFill>
                <a:latin typeface="Arial"/>
                <a:ea typeface="Arial"/>
                <a:cs typeface="Arial"/>
              </a:rPr>
              <a:t>Existing foundations</a:t>
            </a:r>
          </a:p>
        </p:txBody>
      </p:sp>
      <p:sp>
        <p:nvSpPr>
          <p:cNvPr id="4" name="">
            <a:extLst xmlns:a="http://schemas.openxmlformats.org/drawingml/2006/main">
              <a:ext uri="{FF2B5EF4-FFF2-40B4-BE49-F238E27FC236}">
                <a16:creationId xmlns:a16="http://schemas.microsoft.com/office/drawing/2014/main" id="{35B637D9-085B-442D-B536-DE3B3BE6C9B0}"/>
              </a:ext>
            </a:extLst>
          </p:cNvPr>
          <p:cNvSpPr>
            <a:spLocks xmlns:a="http://schemas.openxmlformats.org/drawingml/2006/main" noGrp="1"/>
          </p:cNvSpPr>
          <p:nvPr/>
        </p:nvSpPr>
        <p:spPr>
          <a:xfrm xmlns:a="http://schemas.openxmlformats.org/drawingml/2006/main">
            <a:off x="609600" y="2238375"/>
            <a:ext cx="52387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24C"/>
                </a:solidFill>
                <a:latin typeface="Arial"/>
                <a:ea typeface="Arial"/>
                <a:cs typeface="Arial"/>
              </a:defRPr>
            </a:pPr>
            <a:r>
              <a:rPr sz="2100" b="0">
                <a:solidFill>
                  <a:srgbClr val="18324C"/>
                </a:solidFill>
                <a:latin typeface="Arial"/>
                <a:ea typeface="Arial"/>
                <a:cs typeface="Arial"/>
              </a:rPr>
              <a:t>SAM: promptable masks and predicted IoU</a:t>
            </a:r>
          </a:p>
          <a:p xmlns:a="http://schemas.openxmlformats.org/drawingml/2006/main">
            <a:pPr>
              <a:defRPr sz="2100" b="0">
                <a:solidFill>
                  <a:srgbClr val="18324C"/>
                </a:solidFill>
                <a:latin typeface="Arial"/>
                <a:ea typeface="Arial"/>
                <a:cs typeface="Arial"/>
              </a:defRPr>
            </a:pPr>
            <a:r>
              <a:rPr sz="2100" b="0">
                <a:solidFill>
                  <a:srgbClr val="18324C"/>
                </a:solidFill>
                <a:latin typeface="Arial"/>
                <a:ea typeface="Arial"/>
                <a:cs typeface="Arial"/>
              </a:rPr>
              <a:t>PointPrompt: prompting behavior</a:t>
            </a:r>
          </a:p>
          <a:p xmlns:a="http://schemas.openxmlformats.org/drawingml/2006/main">
            <a:pPr>
              <a:defRPr sz="2100" b="0">
                <a:solidFill>
                  <a:srgbClr val="18324C"/>
                </a:solidFill>
                <a:latin typeface="Arial"/>
                <a:ea typeface="Arial"/>
                <a:cs typeface="Arial"/>
              </a:defRPr>
            </a:pPr>
            <a:r>
              <a:rPr sz="2100" b="0">
                <a:solidFill>
                  <a:srgbClr val="18324C"/>
                </a:solidFill>
                <a:latin typeface="Arial"/>
                <a:ea typeface="Arial"/>
                <a:cs typeface="Arial"/>
              </a:rPr>
              <a:t>Prompt uncertainty: already studied</a:t>
            </a:r>
          </a:p>
        </p:txBody>
      </p:sp>
      <p:sp>
        <p:nvSpPr>
          <p:cNvPr id="5" name="">
            <a:extLst xmlns:a="http://schemas.openxmlformats.org/drawingml/2006/main">
              <a:ext uri="{FF2B5EF4-FFF2-40B4-BE49-F238E27FC236}">
                <a16:creationId xmlns:a16="http://schemas.microsoft.com/office/drawing/2014/main" id="{134BD824-9899-4717-8263-58B0CED34511}"/>
              </a:ext>
            </a:extLst>
          </p:cNvPr>
          <p:cNvSpPr>
            <a:spLocks xmlns:a="http://schemas.openxmlformats.org/drawingml/2006/main" noGrp="1"/>
          </p:cNvSpPr>
          <p:nvPr/>
        </p:nvSpPr>
        <p:spPr>
          <a:xfrm xmlns:a="http://schemas.openxmlformats.org/drawingml/2006/main">
            <a:off x="6477000" y="1476375"/>
            <a:ext cx="5095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8324C"/>
                </a:solidFill>
                <a:latin typeface="Arial"/>
                <a:ea typeface="Arial"/>
                <a:cs typeface="Arial"/>
              </a:defRPr>
            </a:pPr>
            <a:r>
              <a:rPr sz="2400" b="1">
                <a:solidFill>
                  <a:srgbClr val="18324C"/>
                </a:solidFill>
                <a:latin typeface="Arial"/>
                <a:ea typeface="Arial"/>
                <a:cs typeface="Arial"/>
              </a:rPr>
              <a:t>This study</a:t>
            </a:r>
          </a:p>
        </p:txBody>
      </p:sp>
      <p:sp>
        <p:nvSpPr>
          <p:cNvPr id="6" name="">
            <a:extLst xmlns:a="http://schemas.openxmlformats.org/drawingml/2006/main">
              <a:ext uri="{FF2B5EF4-FFF2-40B4-BE49-F238E27FC236}">
                <a16:creationId xmlns:a16="http://schemas.microsoft.com/office/drawing/2014/main" id="{EF537756-C74E-4706-B921-ECEF8B233408}"/>
              </a:ext>
            </a:extLst>
          </p:cNvPr>
          <p:cNvSpPr>
            <a:spLocks xmlns:a="http://schemas.openxmlformats.org/drawingml/2006/main" noGrp="1"/>
          </p:cNvSpPr>
          <p:nvPr/>
        </p:nvSpPr>
        <p:spPr>
          <a:xfrm xmlns:a="http://schemas.openxmlformats.org/drawingml/2006/main">
            <a:off x="6477000" y="2238375"/>
            <a:ext cx="5095875"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24C"/>
                </a:solidFill>
                <a:latin typeface="Arial"/>
                <a:ea typeface="Arial"/>
                <a:cs typeface="Arial"/>
              </a:defRPr>
            </a:pPr>
            <a:r>
              <a:rPr sz="2100" b="0">
                <a:solidFill>
                  <a:srgbClr val="18324C"/>
                </a:solidFill>
                <a:latin typeface="Arial"/>
                <a:ea typeface="Arial"/>
                <a:cs typeface="Arial"/>
              </a:rPr>
              <a:t>Natural images and an additional Pet corpus</a:t>
            </a:r>
          </a:p>
          <a:p xmlns:a="http://schemas.openxmlformats.org/drawingml/2006/main">
            <a:pPr>
              <a:defRPr sz="2100" b="0">
                <a:solidFill>
                  <a:srgbClr val="18324C"/>
                </a:solidFill>
                <a:latin typeface="Arial"/>
                <a:ea typeface="Arial"/>
                <a:cs typeface="Arial"/>
              </a:defRPr>
            </a:pPr>
            <a:r>
              <a:rPr sz="2100" b="0">
                <a:solidFill>
                  <a:srgbClr val="18324C"/>
                </a:solidFill>
                <a:latin typeface="Arial"/>
                <a:ea typeface="Arial"/>
                <a:cs typeface="Arial"/>
              </a:rPr>
              <a:t>Interior versus boundary clicks</a:t>
            </a:r>
          </a:p>
          <a:p xmlns:a="http://schemas.openxmlformats.org/drawingml/2006/main">
            <a:pPr>
              <a:defRPr sz="2100" b="0">
                <a:solidFill>
                  <a:srgbClr val="18324C"/>
                </a:solidFill>
                <a:latin typeface="Arial"/>
                <a:ea typeface="Arial"/>
                <a:cs typeface="Arial"/>
              </a:defRPr>
            </a:pPr>
            <a:r>
              <a:rPr sz="2100" b="0">
                <a:solidFill>
                  <a:srgbClr val="18324C"/>
                </a:solidFill>
                <a:latin typeface="Arial"/>
                <a:ea typeface="Arial"/>
                <a:cs typeface="Arial"/>
              </a:rPr>
              <a:t>Radius, decode budget and stable errors</a:t>
            </a:r>
          </a:p>
        </p:txBody>
      </p:sp>
      <p:sp>
        <p:nvSpPr>
          <p:cNvPr id="7" name="">
            <a:extLst xmlns:a="http://schemas.openxmlformats.org/drawingml/2006/main">
              <a:ext uri="{FF2B5EF4-FFF2-40B4-BE49-F238E27FC236}">
                <a16:creationId xmlns:a16="http://schemas.microsoft.com/office/drawing/2014/main" id="{EC11BA9E-59A8-4315-9F93-8C32C0867189}"/>
              </a:ext>
            </a:extLst>
          </p:cNvPr>
          <p:cNvSpPr>
            <a:spLocks xmlns:a="http://schemas.openxmlformats.org/drawingml/2006/main" noGrp="1"/>
          </p:cNvSpPr>
          <p:nvPr/>
        </p:nvSpPr>
        <p:spPr>
          <a:xfrm xmlns:a="http://schemas.openxmlformats.org/drawingml/2006/main">
            <a:off x="609600" y="5286375"/>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8324C"/>
                </a:solidFill>
                <a:latin typeface="Arial"/>
                <a:ea typeface="Arial"/>
                <a:cs typeface="Arial"/>
              </a:defRPr>
            </a:pPr>
            <a:r>
              <a:rPr sz="2100" b="1">
                <a:solidFill>
                  <a:srgbClr val="18324C"/>
                </a:solidFill>
                <a:latin typeface="Arial"/>
                <a:ea typeface="Arial"/>
                <a:cs typeface="Arial"/>
              </a:rPr>
              <a:t>The contribution is a controlled analysis; perturbation uncertainty is not claimed as new</a:t>
            </a:r>
          </a:p>
        </p:txBody>
      </p:sp>
    </p:spTree>
    <p:extLst>
      <p:ext uri="{BB962C8B-B14F-4D97-AF65-F5344CB8AC3E}">
        <p14:creationId xmlns:p14="http://schemas.microsoft.com/office/powerpoint/2010/main" val="116346753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C835A4F-63D2-47C8-AB7F-69B62AB12208}"/>
              </a:ext>
            </a:extLst>
          </p:cNvPr>
          <p:cNvSpPr>
            <a:spLocks xmlns:a="http://schemas.openxmlformats.org/drawingml/2006/main" noGrp="1"/>
          </p:cNvSpPr>
          <p:nvPr/>
        </p:nvSpPr>
        <p:spPr>
          <a:xfrm xmlns:a="http://schemas.openxmlformats.org/drawingml/2006/main">
            <a:off x="609600" y="41910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24C"/>
                </a:solidFill>
                <a:latin typeface="Arial"/>
                <a:ea typeface="Arial"/>
                <a:cs typeface="Arial"/>
              </a:defRPr>
            </a:pPr>
            <a:r>
              <a:rPr sz="3300" b="1">
                <a:solidFill>
                  <a:srgbClr val="18324C"/>
                </a:solidFill>
                <a:latin typeface="Arial"/>
                <a:ea typeface="Arial"/>
                <a:cs typeface="Arial"/>
              </a:rPr>
              <a:t>Image-level experimental protocol</a:t>
            </a:r>
          </a:p>
        </p:txBody>
      </p:sp>
      <p:sp>
        <p:nvSpPr>
          <p:cNvPr id="2" name="">
            <a:extLst xmlns:a="http://schemas.openxmlformats.org/drawingml/2006/main">
              <a:ext uri="{FF2B5EF4-FFF2-40B4-BE49-F238E27FC236}">
                <a16:creationId xmlns:a16="http://schemas.microsoft.com/office/drawing/2014/main" id="{86EA26F4-AFDC-46CF-A426-47E60FBD4A8B}"/>
              </a:ext>
            </a:extLst>
          </p:cNvPr>
          <p:cNvSpPr>
            <a:spLocks xmlns:a="http://schemas.openxmlformats.org/drawingml/2006/main" noGrp="1"/>
          </p:cNvSpPr>
          <p:nvPr/>
        </p:nvSpPr>
        <p:spPr>
          <a:xfrm xmlns:a="http://schemas.openxmlformats.org/drawingml/2006/main">
            <a:off x="11239500" y="6438900"/>
            <a:ext cx="342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18096"/>
                </a:solidFill>
                <a:latin typeface="Arial"/>
                <a:ea typeface="Arial"/>
                <a:cs typeface="Arial"/>
              </a:defRPr>
            </a:pPr>
            <a:r>
              <a:rPr sz="1350" b="0">
                <a:solidFill>
                  <a:srgbClr val="718096"/>
                </a:solidFill>
                <a:latin typeface="Arial"/>
                <a:ea typeface="Arial"/>
                <a:cs typeface="Arial"/>
              </a:rPr>
              <a:t>3</a:t>
            </a:r>
          </a:p>
        </p:txBody>
      </p:sp>
      <p:graphicFrame>
        <p:nvGraphicFramePr>
          <p:cNvPr id="8" name=""/>
          <p:cNvGraphicFramePr/>
          <p:nvPr/>
        </p:nvGraphicFramePr>
        <p:xfrm>
          <a:off xmlns:a="http://schemas.openxmlformats.org/drawingml/2006/main" x="609600" y="1571625"/>
          <a:ext xmlns:a="http://schemas.openxmlformats.org/drawingml/2006/main" cx="10972800" cy="2857500"/>
        </p:xfrm>
        <a:graphic xmlns:a="http://schemas.openxmlformats.org/drawingml/2006/main">
          <a:graphicData uri="http://schemas.openxmlformats.org/drawingml/2006/table">
            <a:tbl>
              <a:tblPr/>
              <a:tblGrid>
                <a:gridCol w="4762500"/>
                <a:gridCol w="2476500"/>
                <a:gridCol w="3733800"/>
              </a:tblGrid>
              <a:tr h="714375">
                <a:tc>
                  <a:txBody>
                    <a:bodyPr>
                      <a:noAutofit/>
                    </a:bodyPr>
                    <a:lstStyle/>
                    <a:p>
                      <a:r>
                        <a:rPr sz="2175" b="1">
                          <a:solidFill>
                            <a:srgbClr val="18324C"/>
                          </a:solidFill>
                          <a:latin typeface="Arial"/>
                          <a:ea typeface="Arial"/>
                          <a:cs typeface="Arial"/>
                        </a:rPr>
                        <a:t>Split</a:t>
                      </a:r>
                    </a:p>
                  </a:txBody>
                  <a:tcPr marL="91440" marR="91440" marT="45720" marB="45720">
                    <a:solidFill>
                      <a:srgbClr val="E8EFF5"/>
                    </a:solidFill>
                  </a:tcPr>
                </a:tc>
                <a:tc>
                  <a:txBody>
                    <a:bodyPr>
                      <a:noAutofit/>
                    </a:bodyPr>
                    <a:lstStyle/>
                    <a:p>
                      <a:r>
                        <a:rPr sz="2175" b="1">
                          <a:solidFill>
                            <a:srgbClr val="18324C"/>
                          </a:solidFill>
                          <a:latin typeface="Arial"/>
                          <a:ea typeface="Arial"/>
                          <a:cs typeface="Arial"/>
                        </a:rPr>
                        <a:t>Images</a:t>
                      </a:r>
                    </a:p>
                  </a:txBody>
                  <a:tcPr marL="91440" marR="91440" marT="45720" marB="45720">
                    <a:solidFill>
                      <a:srgbClr val="E8EFF5"/>
                    </a:solidFill>
                  </a:tcPr>
                </a:tc>
                <a:tc>
                  <a:txBody>
                    <a:bodyPr>
                      <a:noAutofit/>
                    </a:bodyPr>
                    <a:lstStyle/>
                    <a:p>
                      <a:r>
                        <a:rPr sz="2175" b="1">
                          <a:solidFill>
                            <a:srgbClr val="18324C"/>
                          </a:solidFill>
                          <a:latin typeface="Arial"/>
                          <a:ea typeface="Arial"/>
                          <a:cs typeface="Arial"/>
                        </a:rPr>
                        <a:t>Simulated click cases</a:t>
                      </a:r>
                    </a:p>
                  </a:txBody>
                  <a:tcPr marL="91440" marR="91440" marT="45720" marB="45720">
                    <a:solidFill>
                      <a:srgbClr val="E8EFF5"/>
                    </a:solidFill>
                  </a:tcPr>
                </a:tc>
              </a:tr>
              <a:tr h="714375">
                <a:tc>
                  <a:txBody>
                    <a:bodyPr>
                      <a:noAutofit/>
                    </a:bodyPr>
                    <a:lstStyle/>
                    <a:p>
                      <a:r>
                        <a:rPr sz="2175" b="0">
                          <a:solidFill>
                            <a:srgbClr val="18324C"/>
                          </a:solidFill>
                          <a:latin typeface="Arial"/>
                          <a:ea typeface="Arial"/>
                          <a:cs typeface="Arial"/>
                        </a:rPr>
                        <a:t>Validation</a:t>
                      </a:r>
                    </a:p>
                  </a:txBody>
                  <a:tcPr marL="91440" marR="91440" marT="45720" marB="45720">
                    <a:solidFill>
                      <a:srgbClr val="FFFFFF"/>
                    </a:solidFill>
                  </a:tcPr>
                </a:tc>
                <a:tc>
                  <a:txBody>
                    <a:bodyPr>
                      <a:noAutofit/>
                    </a:bodyPr>
                    <a:lstStyle/>
                    <a:p>
                      <a:r>
                        <a:rPr sz="2175" b="0">
                          <a:solidFill>
                            <a:srgbClr val="18324C"/>
                          </a:solidFill>
                          <a:latin typeface="Arial"/>
                          <a:ea typeface="Arial"/>
                          <a:cs typeface="Arial"/>
                        </a:rPr>
                        <a:t>45</a:t>
                      </a:r>
                    </a:p>
                  </a:txBody>
                  <a:tcPr marL="91440" marR="91440" marT="45720" marB="45720">
                    <a:solidFill>
                      <a:srgbClr val="FFFFFF"/>
                    </a:solidFill>
                  </a:tcPr>
                </a:tc>
                <a:tc>
                  <a:txBody>
                    <a:bodyPr>
                      <a:noAutofit/>
                    </a:bodyPr>
                    <a:lstStyle/>
                    <a:p>
                      <a:r>
                        <a:rPr sz="2175" b="0">
                          <a:solidFill>
                            <a:srgbClr val="18324C"/>
                          </a:solidFill>
                          <a:latin typeface="Arial"/>
                          <a:ea typeface="Arial"/>
                          <a:cs typeface="Arial"/>
                        </a:rPr>
                        <a:t>90</a:t>
                      </a:r>
                    </a:p>
                  </a:txBody>
                  <a:tcPr marL="91440" marR="91440" marT="45720" marB="45720">
                    <a:solidFill>
                      <a:srgbClr val="FFFFFF"/>
                    </a:solidFill>
                  </a:tcPr>
                </a:tc>
              </a:tr>
              <a:tr h="714375">
                <a:tc>
                  <a:txBody>
                    <a:bodyPr>
                      <a:noAutofit/>
                    </a:bodyPr>
                    <a:lstStyle/>
                    <a:p>
                      <a:r>
                        <a:rPr sz="2175" b="0">
                          <a:solidFill>
                            <a:srgbClr val="18324C"/>
                          </a:solidFill>
                          <a:latin typeface="Arial"/>
                          <a:ea typeface="Arial"/>
                          <a:cs typeface="Arial"/>
                        </a:rPr>
                        <a:t>Main test</a:t>
                      </a:r>
                    </a:p>
                  </a:txBody>
                  <a:tcPr marL="91440" marR="91440" marT="45720" marB="45720">
                    <a:solidFill>
                      <a:srgbClr val="FFFFFF"/>
                    </a:solidFill>
                  </a:tcPr>
                </a:tc>
                <a:tc>
                  <a:txBody>
                    <a:bodyPr>
                      <a:noAutofit/>
                    </a:bodyPr>
                    <a:lstStyle/>
                    <a:p>
                      <a:r>
                        <a:rPr sz="2175" b="0">
                          <a:solidFill>
                            <a:srgbClr val="18324C"/>
                          </a:solidFill>
                          <a:latin typeface="Arial"/>
                          <a:ea typeface="Arial"/>
                          <a:cs typeface="Arial"/>
                        </a:rPr>
                        <a:t>106</a:t>
                      </a:r>
                    </a:p>
                  </a:txBody>
                  <a:tcPr marL="91440" marR="91440" marT="45720" marB="45720">
                    <a:solidFill>
                      <a:srgbClr val="FFFFFF"/>
                    </a:solidFill>
                  </a:tcPr>
                </a:tc>
                <a:tc>
                  <a:txBody>
                    <a:bodyPr>
                      <a:noAutofit/>
                    </a:bodyPr>
                    <a:lstStyle/>
                    <a:p>
                      <a:r>
                        <a:rPr sz="2175" b="0">
                          <a:solidFill>
                            <a:srgbClr val="18324C"/>
                          </a:solidFill>
                          <a:latin typeface="Arial"/>
                          <a:ea typeface="Arial"/>
                          <a:cs typeface="Arial"/>
                        </a:rPr>
                        <a:t>212</a:t>
                      </a:r>
                    </a:p>
                  </a:txBody>
                  <a:tcPr marL="91440" marR="91440" marT="45720" marB="45720">
                    <a:solidFill>
                      <a:srgbClr val="FFFFFF"/>
                    </a:solidFill>
                  </a:tcPr>
                </a:tc>
              </a:tr>
              <a:tr h="714375">
                <a:tc>
                  <a:txBody>
                    <a:bodyPr>
                      <a:noAutofit/>
                    </a:bodyPr>
                    <a:lstStyle/>
                    <a:p>
                      <a:r>
                        <a:rPr sz="2175" b="0">
                          <a:solidFill>
                            <a:srgbClr val="18324C"/>
                          </a:solidFill>
                          <a:latin typeface="Arial"/>
                          <a:ea typeface="Arial"/>
                          <a:cs typeface="Arial"/>
                        </a:rPr>
                        <a:t>Additional Pet</a:t>
                      </a:r>
                    </a:p>
                  </a:txBody>
                  <a:tcPr marL="91440" marR="91440" marT="45720" marB="45720">
                    <a:solidFill>
                      <a:srgbClr val="FFFFFF"/>
                    </a:solidFill>
                  </a:tcPr>
                </a:tc>
                <a:tc>
                  <a:txBody>
                    <a:bodyPr>
                      <a:noAutofit/>
                    </a:bodyPr>
                    <a:lstStyle/>
                    <a:p>
                      <a:r>
                        <a:rPr sz="2175" b="0">
                          <a:solidFill>
                            <a:srgbClr val="18324C"/>
                          </a:solidFill>
                          <a:latin typeface="Arial"/>
                          <a:ea typeface="Arial"/>
                          <a:cs typeface="Arial"/>
                        </a:rPr>
                        <a:t>74</a:t>
                      </a:r>
                    </a:p>
                  </a:txBody>
                  <a:tcPr marL="91440" marR="91440" marT="45720" marB="45720">
                    <a:solidFill>
                      <a:srgbClr val="FFFFFF"/>
                    </a:solidFill>
                  </a:tcPr>
                </a:tc>
                <a:tc>
                  <a:txBody>
                    <a:bodyPr>
                      <a:noAutofit/>
                    </a:bodyPr>
                    <a:lstStyle/>
                    <a:p>
                      <a:r>
                        <a:rPr sz="2175" b="0">
                          <a:solidFill>
                            <a:srgbClr val="18324C"/>
                          </a:solidFill>
                          <a:latin typeface="Arial"/>
                          <a:ea typeface="Arial"/>
                          <a:cs typeface="Arial"/>
                        </a:rPr>
                        <a:t>148</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D21844BA-5152-4140-A3AA-67A6CE82C51A}"/>
              </a:ext>
            </a:extLst>
          </p:cNvPr>
          <p:cNvSpPr>
            <a:spLocks xmlns:a="http://schemas.openxmlformats.org/drawingml/2006/main" noGrp="1"/>
          </p:cNvSpPr>
          <p:nvPr/>
        </p:nvSpPr>
        <p:spPr>
          <a:xfrm xmlns:a="http://schemas.openxmlformats.org/drawingml/2006/main">
            <a:off x="609600" y="476250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8324C"/>
                </a:solidFill>
                <a:latin typeface="Arial"/>
                <a:ea typeface="Arial"/>
                <a:cs typeface="Arial"/>
              </a:defRPr>
            </a:pPr>
            <a:r>
              <a:rPr sz="2250" b="0">
                <a:solidFill>
                  <a:srgbClr val="18324C"/>
                </a:solidFill>
                <a:latin typeface="Arial"/>
                <a:ea typeface="Arial"/>
                <a:cs typeface="Arial"/>
              </a:rPr>
              <a:t>Two click regimes: foreground interior and near boundary</a:t>
            </a:r>
          </a:p>
        </p:txBody>
      </p:sp>
      <p:sp>
        <p:nvSpPr>
          <p:cNvPr id="5" name="">
            <a:extLst xmlns:a="http://schemas.openxmlformats.org/drawingml/2006/main">
              <a:ext uri="{FF2B5EF4-FFF2-40B4-BE49-F238E27FC236}">
                <a16:creationId xmlns:a16="http://schemas.microsoft.com/office/drawing/2014/main" id="{BEDA1434-F1E2-4456-A373-C969076FF016}"/>
              </a:ext>
            </a:extLst>
          </p:cNvPr>
          <p:cNvSpPr>
            <a:spLocks xmlns:a="http://schemas.openxmlformats.org/drawingml/2006/main" noGrp="1"/>
          </p:cNvSpPr>
          <p:nvPr/>
        </p:nvSpPr>
        <p:spPr>
          <a:xfrm xmlns:a="http://schemas.openxmlformats.org/drawingml/2006/main">
            <a:off x="609600" y="5381625"/>
            <a:ext cx="1085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24C"/>
                </a:solidFill>
                <a:latin typeface="Arial"/>
                <a:ea typeface="Arial"/>
                <a:cs typeface="Arial"/>
              </a:defRPr>
            </a:pPr>
            <a:r>
              <a:rPr sz="2025" b="0">
                <a:solidFill>
                  <a:srgbClr val="18324C"/>
                </a:solidFill>
                <a:latin typeface="Arial"/>
                <a:ea typeface="Arial"/>
                <a:cs typeface="Arial"/>
              </a:rPr>
              <a:t>Annotations simulate clicks and evaluate masks; reliability scoring never receives them</a:t>
            </a:r>
          </a:p>
        </p:txBody>
      </p:sp>
    </p:spTree>
    <p:extLst>
      <p:ext uri="{BB962C8B-B14F-4D97-AF65-F5344CB8AC3E}">
        <p14:creationId xmlns:p14="http://schemas.microsoft.com/office/powerpoint/2010/main" val="40413609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3408A34-9F93-4E29-8E17-27666108D1F7}"/>
              </a:ext>
            </a:extLst>
          </p:cNvPr>
          <p:cNvSpPr>
            <a:spLocks xmlns:a="http://schemas.openxmlformats.org/drawingml/2006/main" noGrp="1"/>
          </p:cNvSpPr>
          <p:nvPr/>
        </p:nvSpPr>
        <p:spPr>
          <a:xfrm xmlns:a="http://schemas.openxmlformats.org/drawingml/2006/main">
            <a:off x="609600" y="41910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24C"/>
                </a:solidFill>
                <a:latin typeface="Arial"/>
                <a:ea typeface="Arial"/>
                <a:cs typeface="Arial"/>
              </a:defRPr>
            </a:pPr>
            <a:r>
              <a:rPr sz="3300" b="1">
                <a:solidFill>
                  <a:srgbClr val="18324C"/>
                </a:solidFill>
                <a:latin typeface="Arial"/>
                <a:ea typeface="Arial"/>
                <a:cs typeface="Arial"/>
              </a:rPr>
              <a:t>Reliability scores and inference budget</a:t>
            </a:r>
          </a:p>
        </p:txBody>
      </p:sp>
      <p:sp>
        <p:nvSpPr>
          <p:cNvPr id="2" name="">
            <a:extLst xmlns:a="http://schemas.openxmlformats.org/drawingml/2006/main">
              <a:ext uri="{FF2B5EF4-FFF2-40B4-BE49-F238E27FC236}">
                <a16:creationId xmlns:a16="http://schemas.microsoft.com/office/drawing/2014/main" id="{1DA710D7-9915-4909-9952-9292E974688D}"/>
              </a:ext>
            </a:extLst>
          </p:cNvPr>
          <p:cNvSpPr>
            <a:spLocks xmlns:a="http://schemas.openxmlformats.org/drawingml/2006/main" noGrp="1"/>
          </p:cNvSpPr>
          <p:nvPr/>
        </p:nvSpPr>
        <p:spPr>
          <a:xfrm xmlns:a="http://schemas.openxmlformats.org/drawingml/2006/main">
            <a:off x="11239500" y="6438900"/>
            <a:ext cx="342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18096"/>
                </a:solidFill>
                <a:latin typeface="Arial"/>
                <a:ea typeface="Arial"/>
                <a:cs typeface="Arial"/>
              </a:defRPr>
            </a:pPr>
            <a:r>
              <a:rPr sz="1350" b="0">
                <a:solidFill>
                  <a:srgbClr val="718096"/>
                </a:solidFill>
                <a:latin typeface="Arial"/>
                <a:ea typeface="Arial"/>
                <a:cs typeface="Arial"/>
              </a:rPr>
              <a:t>4</a:t>
            </a:r>
          </a:p>
        </p:txBody>
      </p:sp>
      <p:graphicFrame>
        <p:nvGraphicFramePr>
          <p:cNvPr id="8" name=""/>
          <p:cNvGraphicFramePr/>
          <p:nvPr/>
        </p:nvGraphicFramePr>
        <p:xfrm>
          <a:off xmlns:a="http://schemas.openxmlformats.org/drawingml/2006/main" x="609600" y="1476375"/>
          <a:ext xmlns:a="http://schemas.openxmlformats.org/drawingml/2006/main" cx="10972800" cy="3238500"/>
        </p:xfrm>
        <a:graphic xmlns:a="http://schemas.openxmlformats.org/drawingml/2006/main">
          <a:graphicData uri="http://schemas.openxmlformats.org/drawingml/2006/table">
            <a:tbl>
              <a:tblPr/>
              <a:tblGrid>
                <a:gridCol w="6810375"/>
                <a:gridCol w="4162425"/>
              </a:tblGrid>
              <a:tr h="647700">
                <a:tc>
                  <a:txBody>
                    <a:bodyPr>
                      <a:noAutofit/>
                    </a:bodyPr>
                    <a:lstStyle/>
                    <a:p>
                      <a:r>
                        <a:rPr sz="1875" b="1">
                          <a:solidFill>
                            <a:srgbClr val="18324C"/>
                          </a:solidFill>
                          <a:latin typeface="Arial"/>
                          <a:ea typeface="Arial"/>
                          <a:cs typeface="Arial"/>
                        </a:rPr>
                        <a:t>Score</a:t>
                      </a:r>
                    </a:p>
                  </a:txBody>
                  <a:tcPr marL="91440" marR="91440" marT="45720" marB="45720">
                    <a:solidFill>
                      <a:srgbClr val="E8EFF5"/>
                    </a:solidFill>
                  </a:tcPr>
                </a:tc>
                <a:tc>
                  <a:txBody>
                    <a:bodyPr>
                      <a:noAutofit/>
                    </a:bodyPr>
                    <a:lstStyle/>
                    <a:p>
                      <a:r>
                        <a:rPr sz="1875" b="1">
                          <a:solidFill>
                            <a:srgbClr val="18324C"/>
                          </a:solidFill>
                          <a:latin typeface="Arial"/>
                          <a:ea typeface="Arial"/>
                          <a:cs typeface="Arial"/>
                        </a:rPr>
                        <a:t>Additional work</a:t>
                      </a:r>
                    </a:p>
                  </a:txBody>
                  <a:tcPr marL="91440" marR="91440" marT="45720" marB="45720">
                    <a:solidFill>
                      <a:srgbClr val="E8EFF5"/>
                    </a:solidFill>
                  </a:tcPr>
                </a:tc>
              </a:tr>
              <a:tr h="647700">
                <a:tc>
                  <a:txBody>
                    <a:bodyPr>
                      <a:noAutofit/>
                    </a:bodyPr>
                    <a:lstStyle/>
                    <a:p>
                      <a:r>
                        <a:rPr sz="1875" b="0">
                          <a:solidFill>
                            <a:srgbClr val="18324C"/>
                          </a:solidFill>
                          <a:latin typeface="Arial"/>
                          <a:ea typeface="Arial"/>
                          <a:cs typeface="Arial"/>
                        </a:rPr>
                        <a:t>SAM confidence / threshold stability</a:t>
                      </a:r>
                    </a:p>
                  </a:txBody>
                  <a:tcPr marL="91440" marR="91440" marT="45720" marB="45720">
                    <a:solidFill>
                      <a:srgbClr val="FFFFFF"/>
                    </a:solidFill>
                  </a:tcPr>
                </a:tc>
                <a:tc>
                  <a:txBody>
                    <a:bodyPr>
                      <a:noAutofit/>
                    </a:bodyPr>
                    <a:lstStyle/>
                    <a:p>
                      <a:r>
                        <a:rPr sz="1875" b="0">
                          <a:solidFill>
                            <a:srgbClr val="18324C"/>
                          </a:solidFill>
                          <a:latin typeface="Arial"/>
                          <a:ea typeface="Arial"/>
                          <a:cs typeface="Arial"/>
                        </a:rPr>
                        <a:t>No additional model call</a:t>
                      </a:r>
                    </a:p>
                  </a:txBody>
                  <a:tcPr marL="91440" marR="91440" marT="45720" marB="45720">
                    <a:solidFill>
                      <a:srgbClr val="FFFFFF"/>
                    </a:solidFill>
                  </a:tcPr>
                </a:tc>
              </a:tr>
              <a:tr h="647700">
                <a:tc>
                  <a:txBody>
                    <a:bodyPr>
                      <a:noAutofit/>
                    </a:bodyPr>
                    <a:lstStyle/>
                    <a:p>
                      <a:r>
                        <a:rPr sz="1875" b="0">
                          <a:solidFill>
                            <a:srgbClr val="18324C"/>
                          </a:solidFill>
                          <a:latin typeface="Arial"/>
                          <a:ea typeface="Arial"/>
                          <a:cs typeface="Arial"/>
                        </a:rPr>
                        <a:t>Mean / minimum prompt consistency</a:t>
                      </a:r>
                    </a:p>
                  </a:txBody>
                  <a:tcPr marL="91440" marR="91440" marT="45720" marB="45720">
                    <a:solidFill>
                      <a:srgbClr val="FFFFFF"/>
                    </a:solidFill>
                  </a:tcPr>
                </a:tc>
                <a:tc>
                  <a:txBody>
                    <a:bodyPr>
                      <a:noAutofit/>
                    </a:bodyPr>
                    <a:lstStyle/>
                    <a:p>
                      <a:r>
                        <a:rPr sz="1875" b="0">
                          <a:solidFill>
                            <a:srgbClr val="18324C"/>
                          </a:solidFill>
                          <a:latin typeface="Arial"/>
                          <a:ea typeface="Arial"/>
                          <a:cs typeface="Arial"/>
                        </a:rPr>
                        <a:t>K decodes; reuse image embedding</a:t>
                      </a:r>
                    </a:p>
                  </a:txBody>
                  <a:tcPr marL="91440" marR="91440" marT="45720" marB="45720">
                    <a:solidFill>
                      <a:srgbClr val="FFFFFF"/>
                    </a:solidFill>
                  </a:tcPr>
                </a:tc>
              </a:tr>
              <a:tr h="647700">
                <a:tc>
                  <a:txBody>
                    <a:bodyPr>
                      <a:noAutofit/>
                    </a:bodyPr>
                    <a:lstStyle/>
                    <a:p>
                      <a:r>
                        <a:rPr sz="1875" b="0">
                          <a:solidFill>
                            <a:srgbClr val="18324C"/>
                          </a:solidFill>
                          <a:latin typeface="Arial"/>
                          <a:ea typeface="Arial"/>
                          <a:cs typeface="Arial"/>
                        </a:rPr>
                        <a:t>Fixed fusion: (confidence + consistency) / 2</a:t>
                      </a:r>
                    </a:p>
                  </a:txBody>
                  <a:tcPr marL="91440" marR="91440" marT="45720" marB="45720">
                    <a:solidFill>
                      <a:srgbClr val="FFFFFF"/>
                    </a:solidFill>
                  </a:tcPr>
                </a:tc>
                <a:tc>
                  <a:txBody>
                    <a:bodyPr>
                      <a:noAutofit/>
                    </a:bodyPr>
                    <a:lstStyle/>
                    <a:p>
                      <a:r>
                        <a:rPr sz="1875" b="0">
                          <a:solidFill>
                            <a:srgbClr val="18324C"/>
                          </a:solidFill>
                          <a:latin typeface="Arial"/>
                          <a:ea typeface="Arial"/>
                          <a:cs typeface="Arial"/>
                        </a:rPr>
                        <a:t>K decodes; no learned weights</a:t>
                      </a:r>
                    </a:p>
                  </a:txBody>
                  <a:tcPr marL="91440" marR="91440" marT="45720" marB="45720">
                    <a:solidFill>
                      <a:srgbClr val="FFFFFF"/>
                    </a:solidFill>
                  </a:tcPr>
                </a:tc>
              </a:tr>
              <a:tr h="647700">
                <a:tc>
                  <a:txBody>
                    <a:bodyPr>
                      <a:noAutofit/>
                    </a:bodyPr>
                    <a:lstStyle/>
                    <a:p>
                      <a:r>
                        <a:rPr sz="1875" b="0">
                          <a:solidFill>
                            <a:srgbClr val="18324C"/>
                          </a:solidFill>
                          <a:latin typeface="Arial"/>
                          <a:ea typeface="Arial"/>
                          <a:cs typeface="Arial"/>
                        </a:rPr>
                        <a:t>Horizontal-flip consistency</a:t>
                      </a:r>
                    </a:p>
                  </a:txBody>
                  <a:tcPr marL="91440" marR="91440" marT="45720" marB="45720">
                    <a:solidFill>
                      <a:srgbClr val="FFFFFF"/>
                    </a:solidFill>
                  </a:tcPr>
                </a:tc>
                <a:tc>
                  <a:txBody>
                    <a:bodyPr>
                      <a:noAutofit/>
                    </a:bodyPr>
                    <a:lstStyle/>
                    <a:p>
                      <a:r>
                        <a:rPr sz="1875" b="0">
                          <a:solidFill>
                            <a:srgbClr val="18324C"/>
                          </a:solidFill>
                          <a:latin typeface="Arial"/>
                          <a:ea typeface="Arial"/>
                          <a:cs typeface="Arial"/>
                        </a:rPr>
                        <a:t>One image encoding + one decode</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130F51ED-9A86-4C3C-B0E9-A9FCFF4A5753}"/>
              </a:ext>
            </a:extLst>
          </p:cNvPr>
          <p:cNvSpPr>
            <a:spLocks xmlns:a="http://schemas.openxmlformats.org/drawingml/2006/main" noGrp="1"/>
          </p:cNvSpPr>
          <p:nvPr/>
        </p:nvSpPr>
        <p:spPr>
          <a:xfrm xmlns:a="http://schemas.openxmlformats.org/drawingml/2006/main">
            <a:off x="609600" y="5000625"/>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24C"/>
                </a:solidFill>
                <a:latin typeface="Arial"/>
                <a:ea typeface="Arial"/>
                <a:cs typeface="Arial"/>
              </a:defRPr>
            </a:pPr>
            <a:r>
              <a:rPr sz="2100" b="0">
                <a:solidFill>
                  <a:srgbClr val="18324C"/>
                </a:solidFill>
                <a:latin typeface="Arial"/>
                <a:ea typeface="Arial"/>
                <a:cs typeface="Arial"/>
              </a:rPr>
              <a:t>Radius: 1%, 3%, 6% of image diagonal | K: 2, 4, 8</a:t>
            </a:r>
          </a:p>
        </p:txBody>
      </p:sp>
      <p:sp>
        <p:nvSpPr>
          <p:cNvPr id="5" name="">
            <a:extLst xmlns:a="http://schemas.openxmlformats.org/drawingml/2006/main">
              <a:ext uri="{FF2B5EF4-FFF2-40B4-BE49-F238E27FC236}">
                <a16:creationId xmlns:a16="http://schemas.microsoft.com/office/drawing/2014/main" id="{7ABF8D44-C2F8-44CD-812C-510F5B249656}"/>
              </a:ext>
            </a:extLst>
          </p:cNvPr>
          <p:cNvSpPr>
            <a:spLocks xmlns:a="http://schemas.openxmlformats.org/drawingml/2006/main" noGrp="1"/>
          </p:cNvSpPr>
          <p:nvPr/>
        </p:nvSpPr>
        <p:spPr>
          <a:xfrm xmlns:a="http://schemas.openxmlformats.org/drawingml/2006/main">
            <a:off x="609600" y="561975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8324C"/>
                </a:solidFill>
                <a:latin typeface="Arial"/>
                <a:ea typeface="Arial"/>
                <a:cs typeface="Arial"/>
              </a:defRPr>
            </a:pPr>
            <a:r>
              <a:rPr sz="2100" b="1">
                <a:solidFill>
                  <a:srgbClr val="18324C"/>
                </a:solidFill>
                <a:latin typeface="Arial"/>
                <a:ea typeface="Arial"/>
                <a:cs typeface="Arial"/>
              </a:rPr>
              <a:t>Primary configuration selected on validation only: r0.06_k8</a:t>
            </a:r>
          </a:p>
        </p:txBody>
      </p:sp>
    </p:spTree>
    <p:extLst>
      <p:ext uri="{BB962C8B-B14F-4D97-AF65-F5344CB8AC3E}">
        <p14:creationId xmlns:p14="http://schemas.microsoft.com/office/powerpoint/2010/main" val="15223696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6ABCCEC-E9E2-4632-852C-06EB0DBC6E03}"/>
              </a:ext>
            </a:extLst>
          </p:cNvPr>
          <p:cNvSpPr>
            <a:spLocks xmlns:a="http://schemas.openxmlformats.org/drawingml/2006/main" noGrp="1"/>
          </p:cNvSpPr>
          <p:nvPr/>
        </p:nvSpPr>
        <p:spPr>
          <a:xfrm xmlns:a="http://schemas.openxmlformats.org/drawingml/2006/main">
            <a:off x="609600" y="41910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24C"/>
                </a:solidFill>
                <a:latin typeface="Arial"/>
                <a:ea typeface="Arial"/>
                <a:cs typeface="Arial"/>
              </a:defRPr>
            </a:pPr>
            <a:r>
              <a:rPr sz="3300" b="1">
                <a:solidFill>
                  <a:srgbClr val="18324C"/>
                </a:solidFill>
                <a:latin typeface="Arial"/>
                <a:ea typeface="Arial"/>
                <a:cs typeface="Arial"/>
              </a:rPr>
              <a:t>Main held-out selective risk</a:t>
            </a:r>
          </a:p>
        </p:txBody>
      </p:sp>
      <p:sp>
        <p:nvSpPr>
          <p:cNvPr id="2" name="">
            <a:extLst xmlns:a="http://schemas.openxmlformats.org/drawingml/2006/main">
              <a:ext uri="{FF2B5EF4-FFF2-40B4-BE49-F238E27FC236}">
                <a16:creationId xmlns:a16="http://schemas.microsoft.com/office/drawing/2014/main" id="{42038EC6-4592-4DBC-B926-414EE71A6D10}"/>
              </a:ext>
            </a:extLst>
          </p:cNvPr>
          <p:cNvSpPr>
            <a:spLocks xmlns:a="http://schemas.openxmlformats.org/drawingml/2006/main" noGrp="1"/>
          </p:cNvSpPr>
          <p:nvPr/>
        </p:nvSpPr>
        <p:spPr>
          <a:xfrm xmlns:a="http://schemas.openxmlformats.org/drawingml/2006/main">
            <a:off x="11239500" y="6438900"/>
            <a:ext cx="342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18096"/>
                </a:solidFill>
                <a:latin typeface="Arial"/>
                <a:ea typeface="Arial"/>
                <a:cs typeface="Arial"/>
              </a:defRPr>
            </a:pPr>
            <a:r>
              <a:rPr sz="1350" b="0">
                <a:solidFill>
                  <a:srgbClr val="718096"/>
                </a:solidFill>
                <a:latin typeface="Arial"/>
                <a:ea typeface="Arial"/>
                <a:cs typeface="Arial"/>
              </a:rPr>
              <a:t>5</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a071dea24a54401f"/>
          <a:stretch xmlns:a="http://schemas.openxmlformats.org/drawingml/2006/main"/>
        </p:blipFill>
        <p:spPr>
          <a:xfrm xmlns:a="http://schemas.openxmlformats.org/drawingml/2006/main">
            <a:off x="555625" y="1381125"/>
            <a:ext cx="7223125" cy="43338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654C366A-FFCB-4618-B6DF-4FB6D82FE6BA}"/>
              </a:ext>
            </a:extLst>
          </p:cNvPr>
          <p:cNvSpPr>
            <a:spLocks xmlns:a="http://schemas.openxmlformats.org/drawingml/2006/main" noGrp="1"/>
          </p:cNvSpPr>
          <p:nvPr/>
        </p:nvSpPr>
        <p:spPr>
          <a:xfrm xmlns:a="http://schemas.openxmlformats.org/drawingml/2006/main">
            <a:off x="8286750" y="1714500"/>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8324C"/>
                </a:solidFill>
                <a:latin typeface="Arial"/>
                <a:ea typeface="Arial"/>
                <a:cs typeface="Arial"/>
              </a:defRPr>
            </a:pPr>
            <a:r>
              <a:rPr sz="2175" b="1">
                <a:solidFill>
                  <a:srgbClr val="18324C"/>
                </a:solidFill>
                <a:latin typeface="Arial"/>
                <a:ea typeface="Arial"/>
                <a:cs typeface="Arial"/>
              </a:rPr>
              <a:t>Lower AURC is better</a:t>
            </a:r>
          </a:p>
        </p:txBody>
      </p:sp>
      <p:sp>
        <p:nvSpPr>
          <p:cNvPr id="5" name="">
            <a:extLst xmlns:a="http://schemas.openxmlformats.org/drawingml/2006/main">
              <a:ext uri="{FF2B5EF4-FFF2-40B4-BE49-F238E27FC236}">
                <a16:creationId xmlns:a16="http://schemas.microsoft.com/office/drawing/2014/main" id="{86E5FD33-BEE7-4760-95F5-2867B0FBAC4C}"/>
              </a:ext>
            </a:extLst>
          </p:cNvPr>
          <p:cNvSpPr>
            <a:spLocks xmlns:a="http://schemas.openxmlformats.org/drawingml/2006/main" noGrp="1"/>
          </p:cNvSpPr>
          <p:nvPr/>
        </p:nvSpPr>
        <p:spPr>
          <a:xfrm xmlns:a="http://schemas.openxmlformats.org/drawingml/2006/main">
            <a:off x="8286750" y="2476500"/>
            <a:ext cx="3238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24C"/>
                </a:solidFill>
                <a:latin typeface="Arial"/>
                <a:ea typeface="Arial"/>
                <a:cs typeface="Arial"/>
              </a:defRPr>
            </a:pPr>
            <a:r>
              <a:rPr sz="1875" b="0">
                <a:solidFill>
                  <a:srgbClr val="18324C"/>
                </a:solidFill>
                <a:latin typeface="Arial"/>
                <a:ea typeface="Arial"/>
                <a:cs typeface="Arial"/>
              </a:rPr>
              <a:t>Confidence: 0.430</a:t>
            </a:r>
          </a:p>
          <a:p xmlns:a="http://schemas.openxmlformats.org/drawingml/2006/main">
            <a:pPr>
              <a:defRPr sz="1875" b="0">
                <a:solidFill>
                  <a:srgbClr val="18324C"/>
                </a:solidFill>
                <a:latin typeface="Arial"/>
                <a:ea typeface="Arial"/>
                <a:cs typeface="Arial"/>
              </a:defRPr>
            </a:pPr>
            <a:r>
              <a:rPr sz="1875" b="0">
                <a:solidFill>
                  <a:srgbClr val="18324C"/>
                </a:solidFill>
                <a:latin typeface="Arial"/>
                <a:ea typeface="Arial"/>
                <a:cs typeface="Arial"/>
              </a:rPr>
              <a:t>Fixed fusion: 0.333</a:t>
            </a:r>
          </a:p>
          <a:p xmlns:a="http://schemas.openxmlformats.org/drawingml/2006/main">
            <a:r>
              <a:t/>
            </a:r>
          </a:p>
          <a:p xmlns:a="http://schemas.openxmlformats.org/drawingml/2006/main">
            <a:pPr>
              <a:defRPr sz="1875" b="0">
                <a:solidFill>
                  <a:srgbClr val="18324C"/>
                </a:solidFill>
                <a:latin typeface="Arial"/>
                <a:ea typeface="Arial"/>
                <a:cs typeface="Arial"/>
              </a:defRPr>
            </a:pPr>
            <a:r>
              <a:rPr sz="1875" b="0">
                <a:solidFill>
                  <a:srgbClr val="18324C"/>
                </a:solidFill>
                <a:latin typeface="Arial"/>
                <a:ea typeface="Arial"/>
                <a:cs typeface="Arial"/>
              </a:rPr>
              <a:t>Paired difference: -0.0971</a:t>
            </a:r>
          </a:p>
          <a:p xmlns:a="http://schemas.openxmlformats.org/drawingml/2006/main">
            <a:pPr>
              <a:defRPr sz="1875" b="0">
                <a:solidFill>
                  <a:srgbClr val="18324C"/>
                </a:solidFill>
                <a:latin typeface="Arial"/>
                <a:ea typeface="Arial"/>
                <a:cs typeface="Arial"/>
              </a:defRPr>
            </a:pPr>
            <a:r>
              <a:rPr sz="1875" b="0">
                <a:solidFill>
                  <a:srgbClr val="18324C"/>
                </a:solidFill>
                <a:latin typeface="Arial"/>
                <a:ea typeface="Arial"/>
                <a:cs typeface="Arial"/>
              </a:rPr>
              <a:t>95% CI: -0.1449 to -0.0528</a:t>
            </a:r>
          </a:p>
        </p:txBody>
      </p:sp>
      <p:sp>
        <p:nvSpPr>
          <p:cNvPr id="6" name="">
            <a:extLst xmlns:a="http://schemas.openxmlformats.org/drawingml/2006/main">
              <a:ext uri="{FF2B5EF4-FFF2-40B4-BE49-F238E27FC236}">
                <a16:creationId xmlns:a16="http://schemas.microsoft.com/office/drawing/2014/main" id="{1C0F7172-7452-4352-B870-BACF9D0F4E12}"/>
              </a:ext>
            </a:extLst>
          </p:cNvPr>
          <p:cNvSpPr>
            <a:spLocks xmlns:a="http://schemas.openxmlformats.org/drawingml/2006/main" noGrp="1"/>
          </p:cNvSpPr>
          <p:nvPr/>
        </p:nvSpPr>
        <p:spPr>
          <a:xfrm xmlns:a="http://schemas.openxmlformats.org/drawingml/2006/main">
            <a:off x="8286750" y="4429125"/>
            <a:ext cx="323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8324C"/>
                </a:solidFill>
                <a:latin typeface="Arial"/>
                <a:ea typeface="Arial"/>
                <a:cs typeface="Arial"/>
              </a:defRPr>
            </a:pPr>
            <a:r>
              <a:rPr sz="1650" b="0">
                <a:solidFill>
                  <a:srgbClr val="18324C"/>
                </a:solidFill>
                <a:latin typeface="Arial"/>
                <a:ea typeface="Arial"/>
                <a:cs typeface="Arial"/>
              </a:rPr>
              <a:t>Mean consistency: 0.329</a:t>
            </a:r>
          </a:p>
          <a:p xmlns:a="http://schemas.openxmlformats.org/drawingml/2006/main">
            <a:pPr>
              <a:defRPr sz="1650" b="0">
                <a:solidFill>
                  <a:srgbClr val="18324C"/>
                </a:solidFill>
                <a:latin typeface="Arial"/>
                <a:ea typeface="Arial"/>
                <a:cs typeface="Arial"/>
              </a:defRPr>
            </a:pPr>
            <a:r>
              <a:rPr sz="1650" b="0">
                <a:solidFill>
                  <a:srgbClr val="18324C"/>
                </a:solidFill>
                <a:latin typeface="Arial"/>
                <a:ea typeface="Arial"/>
                <a:cs typeface="Arial"/>
              </a:rPr>
              <a:t>Fusion adds no demonstrated gain over it</a:t>
            </a:r>
          </a:p>
        </p:txBody>
      </p:sp>
      <p:sp>
        <p:nvSpPr>
          <p:cNvPr id="7" name="">
            <a:extLst xmlns:a="http://schemas.openxmlformats.org/drawingml/2006/main">
              <a:ext uri="{FF2B5EF4-FFF2-40B4-BE49-F238E27FC236}">
                <a16:creationId xmlns:a16="http://schemas.microsoft.com/office/drawing/2014/main" id="{B65C7D56-D754-4A17-83F5-4A333DC469B0}"/>
              </a:ext>
            </a:extLst>
          </p:cNvPr>
          <p:cNvSpPr>
            <a:spLocks xmlns:a="http://schemas.openxmlformats.org/drawingml/2006/main" noGrp="1"/>
          </p:cNvSpPr>
          <p:nvPr/>
        </p:nvSpPr>
        <p:spPr>
          <a:xfrm xmlns:a="http://schemas.openxmlformats.org/drawingml/2006/main">
            <a:off x="609600" y="5905500"/>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8324C"/>
                </a:solidFill>
                <a:latin typeface="Arial"/>
                <a:ea typeface="Arial"/>
                <a:cs typeface="Arial"/>
              </a:defRPr>
            </a:pPr>
            <a:r>
              <a:rPr sz="1875" b="1">
                <a:solidFill>
                  <a:srgbClr val="18324C"/>
                </a:solidFill>
                <a:latin typeface="Arial"/>
                <a:ea typeface="Arial"/>
                <a:cs typeface="Arial"/>
              </a:rPr>
              <a:t>The paired interval excludes zero within this protocol</a:t>
            </a:r>
          </a:p>
        </p:txBody>
      </p:sp>
    </p:spTree>
    <p:extLst>
      <p:ext uri="{BB962C8B-B14F-4D97-AF65-F5344CB8AC3E}">
        <p14:creationId xmlns:p14="http://schemas.microsoft.com/office/powerpoint/2010/main" val="9323242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28B8B9E-68A9-4D66-B857-CC056F539880}"/>
              </a:ext>
            </a:extLst>
          </p:cNvPr>
          <p:cNvSpPr>
            <a:spLocks xmlns:a="http://schemas.openxmlformats.org/drawingml/2006/main" noGrp="1"/>
          </p:cNvSpPr>
          <p:nvPr/>
        </p:nvSpPr>
        <p:spPr>
          <a:xfrm xmlns:a="http://schemas.openxmlformats.org/drawingml/2006/main">
            <a:off x="609600" y="41910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24C"/>
                </a:solidFill>
                <a:latin typeface="Arial"/>
                <a:ea typeface="Arial"/>
                <a:cs typeface="Arial"/>
              </a:defRPr>
            </a:pPr>
            <a:r>
              <a:rPr sz="3300" b="1">
                <a:solidFill>
                  <a:srgbClr val="18324C"/>
                </a:solidFill>
                <a:latin typeface="Arial"/>
                <a:ea typeface="Arial"/>
                <a:cs typeface="Arial"/>
              </a:rPr>
              <a:t>Additional corpus and sensitivity</a:t>
            </a:r>
          </a:p>
        </p:txBody>
      </p:sp>
      <p:sp>
        <p:nvSpPr>
          <p:cNvPr id="2" name="">
            <a:extLst xmlns:a="http://schemas.openxmlformats.org/drawingml/2006/main">
              <a:ext uri="{FF2B5EF4-FFF2-40B4-BE49-F238E27FC236}">
                <a16:creationId xmlns:a16="http://schemas.microsoft.com/office/drawing/2014/main" id="{B914E824-C246-4E5B-9030-ECDB6F0CA26B}"/>
              </a:ext>
            </a:extLst>
          </p:cNvPr>
          <p:cNvSpPr>
            <a:spLocks xmlns:a="http://schemas.openxmlformats.org/drawingml/2006/main" noGrp="1"/>
          </p:cNvSpPr>
          <p:nvPr/>
        </p:nvSpPr>
        <p:spPr>
          <a:xfrm xmlns:a="http://schemas.openxmlformats.org/drawingml/2006/main">
            <a:off x="11239500" y="6438900"/>
            <a:ext cx="342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18096"/>
                </a:solidFill>
                <a:latin typeface="Arial"/>
                <a:ea typeface="Arial"/>
                <a:cs typeface="Arial"/>
              </a:defRPr>
            </a:pPr>
            <a:r>
              <a:rPr sz="1350" b="0">
                <a:solidFill>
                  <a:srgbClr val="718096"/>
                </a:solidFill>
                <a:latin typeface="Arial"/>
                <a:ea typeface="Arial"/>
                <a:cs typeface="Arial"/>
              </a:rPr>
              <a:t>6</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8ce91afcba104a47"/>
          <a:stretch xmlns:a="http://schemas.openxmlformats.org/drawingml/2006/main"/>
        </p:blipFill>
        <p:spPr>
          <a:xfrm xmlns:a="http://schemas.openxmlformats.org/drawingml/2006/main">
            <a:off x="381000" y="1731645"/>
            <a:ext cx="7429500" cy="282321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FC61BD73-A81F-4CB6-BB5E-7070B75625B9}"/>
              </a:ext>
            </a:extLst>
          </p:cNvPr>
          <p:cNvSpPr>
            <a:spLocks xmlns:a="http://schemas.openxmlformats.org/drawingml/2006/main" noGrp="1"/>
          </p:cNvSpPr>
          <p:nvPr/>
        </p:nvSpPr>
        <p:spPr>
          <a:xfrm xmlns:a="http://schemas.openxmlformats.org/drawingml/2006/main">
            <a:off x="8096250" y="1809750"/>
            <a:ext cx="3476625"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24C"/>
                </a:solidFill>
                <a:latin typeface="Arial"/>
                <a:ea typeface="Arial"/>
                <a:cs typeface="Arial"/>
              </a:defRPr>
            </a:pPr>
            <a:r>
              <a:rPr sz="2025" b="0">
                <a:solidFill>
                  <a:srgbClr val="18324C"/>
                </a:solidFill>
                <a:latin typeface="Arial"/>
                <a:ea typeface="Arial"/>
                <a:cs typeface="Arial"/>
              </a:rPr>
              <a:t>Pet: 74 images / 148 cases</a:t>
            </a:r>
          </a:p>
          <a:p xmlns:a="http://schemas.openxmlformats.org/drawingml/2006/main">
            <a:r>
              <a:t/>
            </a:r>
          </a:p>
          <a:p xmlns:a="http://schemas.openxmlformats.org/drawingml/2006/main">
            <a:pPr>
              <a:defRPr sz="2025" b="0">
                <a:solidFill>
                  <a:srgbClr val="18324C"/>
                </a:solidFill>
                <a:latin typeface="Arial"/>
                <a:ea typeface="Arial"/>
                <a:cs typeface="Arial"/>
              </a:defRPr>
            </a:pPr>
            <a:r>
              <a:rPr sz="2025" b="0">
                <a:solidFill>
                  <a:srgbClr val="18324C"/>
                </a:solidFill>
                <a:latin typeface="Arial"/>
                <a:ea typeface="Arial"/>
                <a:cs typeface="Arial"/>
              </a:rPr>
              <a:t>Confidence AURC 0.103</a:t>
            </a:r>
          </a:p>
          <a:p xmlns:a="http://schemas.openxmlformats.org/drawingml/2006/main">
            <a:pPr>
              <a:defRPr sz="2025" b="0">
                <a:solidFill>
                  <a:srgbClr val="18324C"/>
                </a:solidFill>
                <a:latin typeface="Arial"/>
                <a:ea typeface="Arial"/>
                <a:cs typeface="Arial"/>
              </a:defRPr>
            </a:pPr>
            <a:r>
              <a:rPr sz="2025" b="0">
                <a:solidFill>
                  <a:srgbClr val="18324C"/>
                </a:solidFill>
                <a:latin typeface="Arial"/>
                <a:ea typeface="Arial"/>
                <a:cs typeface="Arial"/>
              </a:rPr>
              <a:t>Fusion AURC 0.051</a:t>
            </a:r>
          </a:p>
          <a:p xmlns:a="http://schemas.openxmlformats.org/drawingml/2006/main">
            <a:r>
              <a:t/>
            </a:r>
          </a:p>
          <a:p xmlns:a="http://schemas.openxmlformats.org/drawingml/2006/main">
            <a:pPr>
              <a:defRPr sz="2025" b="0">
                <a:solidFill>
                  <a:srgbClr val="18324C"/>
                </a:solidFill>
                <a:latin typeface="Arial"/>
                <a:ea typeface="Arial"/>
                <a:cs typeface="Arial"/>
              </a:defRPr>
            </a:pPr>
            <a:r>
              <a:rPr sz="2025" b="0">
                <a:solidFill>
                  <a:srgbClr val="18324C"/>
                </a:solidFill>
                <a:latin typeface="Arial"/>
                <a:ea typeface="Arial"/>
                <a:cs typeface="Arial"/>
              </a:rPr>
              <a:t>Same frozen configuration</a:t>
            </a:r>
          </a:p>
        </p:txBody>
      </p:sp>
      <p:sp>
        <p:nvSpPr>
          <p:cNvPr id="5" name="">
            <a:extLst xmlns:a="http://schemas.openxmlformats.org/drawingml/2006/main">
              <a:ext uri="{FF2B5EF4-FFF2-40B4-BE49-F238E27FC236}">
                <a16:creationId xmlns:a16="http://schemas.microsoft.com/office/drawing/2014/main" id="{5FB13378-D378-48B3-855D-5038FD096970}"/>
              </a:ext>
            </a:extLst>
          </p:cNvPr>
          <p:cNvSpPr>
            <a:spLocks xmlns:a="http://schemas.openxmlformats.org/drawingml/2006/main" noGrp="1"/>
          </p:cNvSpPr>
          <p:nvPr/>
        </p:nvSpPr>
        <p:spPr>
          <a:xfrm xmlns:a="http://schemas.openxmlformats.org/drawingml/2006/main">
            <a:off x="609600" y="523875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8324C"/>
                </a:solidFill>
                <a:latin typeface="Arial"/>
                <a:ea typeface="Arial"/>
                <a:cs typeface="Arial"/>
              </a:defRPr>
            </a:pPr>
            <a:r>
              <a:rPr sz="2100" b="1">
                <a:solidFill>
                  <a:srgbClr val="18324C"/>
                </a:solidFill>
                <a:latin typeface="Arial"/>
                <a:ea typeface="Arial"/>
                <a:cs typeface="Arial"/>
              </a:rPr>
              <a:t>Sensitivity cells are descriptive; they do not replace validation selection</a:t>
            </a:r>
          </a:p>
        </p:txBody>
      </p:sp>
    </p:spTree>
    <p:extLst>
      <p:ext uri="{BB962C8B-B14F-4D97-AF65-F5344CB8AC3E}">
        <p14:creationId xmlns:p14="http://schemas.microsoft.com/office/powerpoint/2010/main" val="173379810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89877D5-DC0A-446C-AA4F-FB3CE5853C5F}"/>
              </a:ext>
            </a:extLst>
          </p:cNvPr>
          <p:cNvSpPr>
            <a:spLocks xmlns:a="http://schemas.openxmlformats.org/drawingml/2006/main" noGrp="1"/>
          </p:cNvSpPr>
          <p:nvPr/>
        </p:nvSpPr>
        <p:spPr>
          <a:xfrm xmlns:a="http://schemas.openxmlformats.org/drawingml/2006/main">
            <a:off x="609600" y="41910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24C"/>
                </a:solidFill>
                <a:latin typeface="Arial"/>
                <a:ea typeface="Arial"/>
                <a:cs typeface="Arial"/>
              </a:defRPr>
            </a:pPr>
            <a:r>
              <a:rPr sz="3300" b="1">
                <a:solidFill>
                  <a:srgbClr val="18324C"/>
                </a:solidFill>
                <a:latin typeface="Arial"/>
                <a:ea typeface="Arial"/>
                <a:cs typeface="Arial"/>
              </a:rPr>
              <a:t>Stable errors in actual predictions</a:t>
            </a:r>
          </a:p>
        </p:txBody>
      </p:sp>
      <p:sp>
        <p:nvSpPr>
          <p:cNvPr id="2" name="">
            <a:extLst xmlns:a="http://schemas.openxmlformats.org/drawingml/2006/main">
              <a:ext uri="{FF2B5EF4-FFF2-40B4-BE49-F238E27FC236}">
                <a16:creationId xmlns:a16="http://schemas.microsoft.com/office/drawing/2014/main" id="{79AFEE35-0EAC-4A84-9C61-A991D38A273D}"/>
              </a:ext>
            </a:extLst>
          </p:cNvPr>
          <p:cNvSpPr>
            <a:spLocks xmlns:a="http://schemas.openxmlformats.org/drawingml/2006/main" noGrp="1"/>
          </p:cNvSpPr>
          <p:nvPr/>
        </p:nvSpPr>
        <p:spPr>
          <a:xfrm xmlns:a="http://schemas.openxmlformats.org/drawingml/2006/main">
            <a:off x="11239500" y="6438900"/>
            <a:ext cx="342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18096"/>
                </a:solidFill>
                <a:latin typeface="Arial"/>
                <a:ea typeface="Arial"/>
                <a:cs typeface="Arial"/>
              </a:defRPr>
            </a:pPr>
            <a:r>
              <a:rPr sz="1350" b="0">
                <a:solidFill>
                  <a:srgbClr val="718096"/>
                </a:solidFill>
                <a:latin typeface="Arial"/>
                <a:ea typeface="Arial"/>
                <a:cs typeface="Arial"/>
              </a:rPr>
              <a:t>7</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0c12ece3ed28491e"/>
          <a:stretch xmlns:a="http://schemas.openxmlformats.org/drawingml/2006/main"/>
        </p:blipFill>
        <p:spPr>
          <a:xfrm xmlns:a="http://schemas.openxmlformats.org/drawingml/2006/main">
            <a:off x="822614" y="1333500"/>
            <a:ext cx="10546773" cy="41433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27B4892-5A11-4D29-A2D0-E39918E30139}"/>
              </a:ext>
            </a:extLst>
          </p:cNvPr>
          <p:cNvSpPr>
            <a:spLocks xmlns:a="http://schemas.openxmlformats.org/drawingml/2006/main" noGrp="1"/>
          </p:cNvSpPr>
          <p:nvPr/>
        </p:nvSpPr>
        <p:spPr>
          <a:xfrm xmlns:a="http://schemas.openxmlformats.org/drawingml/2006/main">
            <a:off x="609600" y="566737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8324C"/>
                </a:solidFill>
                <a:latin typeface="Arial"/>
                <a:ea typeface="Arial"/>
                <a:cs typeface="Arial"/>
              </a:defRPr>
            </a:pPr>
            <a:r>
              <a:rPr sz="1875" b="1">
                <a:solidFill>
                  <a:srgbClr val="18324C"/>
                </a:solidFill>
                <a:latin typeface="Arial"/>
                <a:ea typeface="Arial"/>
                <a:cs typeface="Arial"/>
              </a:rPr>
              <a:t>Consistency &gt;= 0.9 and true IoU &lt; 0.5: 2 main cases; 0 Pet cases</a:t>
            </a:r>
          </a:p>
        </p:txBody>
      </p:sp>
    </p:spTree>
    <p:extLst>
      <p:ext uri="{BB962C8B-B14F-4D97-AF65-F5344CB8AC3E}">
        <p14:creationId xmlns:p14="http://schemas.microsoft.com/office/powerpoint/2010/main" val="24588028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7BF147A-99B3-4589-93FC-69083286581E}"/>
              </a:ext>
            </a:extLst>
          </p:cNvPr>
          <p:cNvSpPr>
            <a:spLocks xmlns:a="http://schemas.openxmlformats.org/drawingml/2006/main" noGrp="1"/>
          </p:cNvSpPr>
          <p:nvPr/>
        </p:nvSpPr>
        <p:spPr>
          <a:xfrm xmlns:a="http://schemas.openxmlformats.org/drawingml/2006/main">
            <a:off x="609600" y="41910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24C"/>
                </a:solidFill>
                <a:latin typeface="Arial"/>
                <a:ea typeface="Arial"/>
                <a:cs typeface="Arial"/>
              </a:defRPr>
            </a:pPr>
            <a:r>
              <a:rPr sz="3300" b="1">
                <a:solidFill>
                  <a:srgbClr val="18324C"/>
                </a:solidFill>
                <a:latin typeface="Arial"/>
                <a:ea typeface="Arial"/>
                <a:cs typeface="Arial"/>
              </a:rPr>
              <a:t>Measured additional inference cost</a:t>
            </a:r>
          </a:p>
        </p:txBody>
      </p:sp>
      <p:sp>
        <p:nvSpPr>
          <p:cNvPr id="2" name="">
            <a:extLst xmlns:a="http://schemas.openxmlformats.org/drawingml/2006/main">
              <a:ext uri="{FF2B5EF4-FFF2-40B4-BE49-F238E27FC236}">
                <a16:creationId xmlns:a16="http://schemas.microsoft.com/office/drawing/2014/main" id="{60CCA033-4EBE-471A-B501-84262AB71AEB}"/>
              </a:ext>
            </a:extLst>
          </p:cNvPr>
          <p:cNvSpPr>
            <a:spLocks xmlns:a="http://schemas.openxmlformats.org/drawingml/2006/main" noGrp="1"/>
          </p:cNvSpPr>
          <p:nvPr/>
        </p:nvSpPr>
        <p:spPr>
          <a:xfrm xmlns:a="http://schemas.openxmlformats.org/drawingml/2006/main">
            <a:off x="11239500" y="6438900"/>
            <a:ext cx="342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18096"/>
                </a:solidFill>
                <a:latin typeface="Arial"/>
                <a:ea typeface="Arial"/>
                <a:cs typeface="Arial"/>
              </a:defRPr>
            </a:pPr>
            <a:r>
              <a:rPr sz="1350" b="0">
                <a:solidFill>
                  <a:srgbClr val="718096"/>
                </a:solidFill>
                <a:latin typeface="Arial"/>
                <a:ea typeface="Arial"/>
                <a:cs typeface="Arial"/>
              </a:rPr>
              <a:t>8</a:t>
            </a:r>
          </a:p>
        </p:txBody>
      </p:sp>
      <p:graphicFrame>
        <p:nvGraphicFramePr>
          <p:cNvPr id="8" name="Chart"/>
          <p:cNvGraphicFramePr/>
          <p:nvPr/>
        </p:nvGraphicFramePr>
        <p:xfrm>
          <a:off xmlns:a="http://schemas.openxmlformats.org/drawingml/2006/main" x="762000" y="1476375"/>
          <a:ext xmlns:a="http://schemas.openxmlformats.org/drawingml/2006/main" cx="10477500" cy="3810000"/>
        </p:xfrm>
        <a:graphic xmlns:a="http://schemas.openxmlformats.org/drawingml/2006/main">
          <a:graphicData uri="http://schemas.openxmlformats.org/drawingml/2006/chart">
            <c:chart xmlns:r="http://schemas.openxmlformats.org/officeDocument/2006/relationships" xmlns:c="http://schemas.openxmlformats.org/drawingml/2006/chart" r:id="R116e8390a72a4a84"/>
          </a:graphicData>
        </a:graphic>
      </p:graphicFrame>
      <p:sp>
        <p:nvSpPr>
          <p:cNvPr id="4" name="">
            <a:extLst xmlns:a="http://schemas.openxmlformats.org/drawingml/2006/main">
              <a:ext uri="{FF2B5EF4-FFF2-40B4-BE49-F238E27FC236}">
                <a16:creationId xmlns:a16="http://schemas.microsoft.com/office/drawing/2014/main" id="{89682BC0-0FFF-4D69-8CD9-89CE318C20D5}"/>
              </a:ext>
            </a:extLst>
          </p:cNvPr>
          <p:cNvSpPr>
            <a:spLocks xmlns:a="http://schemas.openxmlformats.org/drawingml/2006/main" noGrp="1"/>
          </p:cNvSpPr>
          <p:nvPr/>
        </p:nvSpPr>
        <p:spPr>
          <a:xfrm xmlns:a="http://schemas.openxmlformats.org/drawingml/2006/main">
            <a:off x="609600" y="5524500"/>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24C"/>
                </a:solidFill>
                <a:latin typeface="Arial"/>
                <a:ea typeface="Arial"/>
                <a:cs typeface="Arial"/>
              </a:defRPr>
            </a:pPr>
            <a:r>
              <a:rPr sz="1875" b="0">
                <a:solidFill>
                  <a:srgbClr val="18324C"/>
                </a:solidFill>
                <a:latin typeface="Arial"/>
                <a:ea typeface="Arial"/>
                <a:cs typeface="Arial"/>
              </a:rPr>
              <a:t>Actual batches on five validation images | cuda | synchronized GPU timing</a:t>
            </a:r>
          </a:p>
        </p:txBody>
      </p:sp>
      <p:sp>
        <p:nvSpPr>
          <p:cNvPr id="5" name="">
            <a:extLst xmlns:a="http://schemas.openxmlformats.org/drawingml/2006/main">
              <a:ext uri="{FF2B5EF4-FFF2-40B4-BE49-F238E27FC236}">
                <a16:creationId xmlns:a16="http://schemas.microsoft.com/office/drawing/2014/main" id="{CB17B728-5C4B-41EC-9378-B3119D7AB181}"/>
              </a:ext>
            </a:extLst>
          </p:cNvPr>
          <p:cNvSpPr>
            <a:spLocks xmlns:a="http://schemas.openxmlformats.org/drawingml/2006/main" noGrp="1"/>
          </p:cNvSpPr>
          <p:nvPr/>
        </p:nvSpPr>
        <p:spPr>
          <a:xfrm xmlns:a="http://schemas.openxmlformats.org/drawingml/2006/main">
            <a:off x="609600" y="6048375"/>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8324C"/>
                </a:solidFill>
                <a:latin typeface="Arial"/>
                <a:ea typeface="Arial"/>
                <a:cs typeface="Arial"/>
              </a:defRPr>
            </a:pPr>
            <a:r>
              <a:rPr sz="1800" b="1">
                <a:solidFill>
                  <a:srgbClr val="18324C"/>
                </a:solidFill>
                <a:latin typeface="Arial"/>
                <a:ea typeface="Arial"/>
                <a:cs typeface="Arial"/>
              </a:rPr>
              <a:t>The complete research sweep costs more than deploying one selected score</a:t>
            </a:r>
          </a:p>
        </p:txBody>
      </p:sp>
    </p:spTree>
    <p:extLst>
      <p:ext uri="{BB962C8B-B14F-4D97-AF65-F5344CB8AC3E}">
        <p14:creationId xmlns:p14="http://schemas.microsoft.com/office/powerpoint/2010/main" val="200974316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024C946-0496-4830-8C65-7A4E38340D49}"/>
              </a:ext>
            </a:extLst>
          </p:cNvPr>
          <p:cNvSpPr>
            <a:spLocks xmlns:a="http://schemas.openxmlformats.org/drawingml/2006/main" noGrp="1"/>
          </p:cNvSpPr>
          <p:nvPr/>
        </p:nvSpPr>
        <p:spPr>
          <a:xfrm xmlns:a="http://schemas.openxmlformats.org/drawingml/2006/main">
            <a:off x="609600" y="41910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24C"/>
                </a:solidFill>
                <a:latin typeface="Arial"/>
                <a:ea typeface="Arial"/>
                <a:cs typeface="Arial"/>
              </a:defRPr>
            </a:pPr>
            <a:r>
              <a:rPr sz="3300" b="1">
                <a:solidFill>
                  <a:srgbClr val="18324C"/>
                </a:solidFill>
                <a:latin typeface="Arial"/>
                <a:ea typeface="Arial"/>
                <a:cs typeface="Arial"/>
              </a:rPr>
              <a:t>Findings and limitations</a:t>
            </a:r>
          </a:p>
        </p:txBody>
      </p:sp>
      <p:sp>
        <p:nvSpPr>
          <p:cNvPr id="2" name="">
            <a:extLst xmlns:a="http://schemas.openxmlformats.org/drawingml/2006/main">
              <a:ext uri="{FF2B5EF4-FFF2-40B4-BE49-F238E27FC236}">
                <a16:creationId xmlns:a16="http://schemas.microsoft.com/office/drawing/2014/main" id="{4755E9D7-36D8-4261-A41D-14BF27107AB5}"/>
              </a:ext>
            </a:extLst>
          </p:cNvPr>
          <p:cNvSpPr>
            <a:spLocks xmlns:a="http://schemas.openxmlformats.org/drawingml/2006/main" noGrp="1"/>
          </p:cNvSpPr>
          <p:nvPr/>
        </p:nvSpPr>
        <p:spPr>
          <a:xfrm xmlns:a="http://schemas.openxmlformats.org/drawingml/2006/main">
            <a:off x="11239500" y="6438900"/>
            <a:ext cx="342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18096"/>
                </a:solidFill>
                <a:latin typeface="Arial"/>
                <a:ea typeface="Arial"/>
                <a:cs typeface="Arial"/>
              </a:defRPr>
            </a:pPr>
            <a:r>
              <a:rPr sz="1350" b="0">
                <a:solidFill>
                  <a:srgbClr val="718096"/>
                </a:solidFill>
                <a:latin typeface="Arial"/>
                <a:ea typeface="Arial"/>
                <a:cs typeface="Arial"/>
              </a:rPr>
              <a:t>9</a:t>
            </a:r>
          </a:p>
        </p:txBody>
      </p:sp>
      <p:sp>
        <p:nvSpPr>
          <p:cNvPr id="3" name="">
            <a:extLst xmlns:a="http://schemas.openxmlformats.org/drawingml/2006/main">
              <a:ext uri="{FF2B5EF4-FFF2-40B4-BE49-F238E27FC236}">
                <a16:creationId xmlns:a16="http://schemas.microsoft.com/office/drawing/2014/main" id="{390476AF-DF25-4BC7-BA2A-DF2CF3C21418}"/>
              </a:ext>
            </a:extLst>
          </p:cNvPr>
          <p:cNvSpPr>
            <a:spLocks xmlns:a="http://schemas.openxmlformats.org/drawingml/2006/main" noGrp="1"/>
          </p:cNvSpPr>
          <p:nvPr/>
        </p:nvSpPr>
        <p:spPr>
          <a:xfrm xmlns:a="http://schemas.openxmlformats.org/drawingml/2006/main">
            <a:off x="609600" y="161925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8324C"/>
                </a:solidFill>
                <a:latin typeface="Arial"/>
                <a:ea typeface="Arial"/>
                <a:cs typeface="Arial"/>
              </a:defRPr>
            </a:pPr>
            <a:r>
              <a:rPr sz="2550" b="1">
                <a:solidFill>
                  <a:srgbClr val="18324C"/>
                </a:solidFill>
                <a:latin typeface="Arial"/>
                <a:ea typeface="Arial"/>
                <a:cs typeface="Arial"/>
              </a:rPr>
              <a:t>Fusion lowers observed main-test AURC</a:t>
            </a:r>
          </a:p>
        </p:txBody>
      </p:sp>
      <p:sp>
        <p:nvSpPr>
          <p:cNvPr id="4" name="">
            <a:extLst xmlns:a="http://schemas.openxmlformats.org/drawingml/2006/main">
              <a:ext uri="{FF2B5EF4-FFF2-40B4-BE49-F238E27FC236}">
                <a16:creationId xmlns:a16="http://schemas.microsoft.com/office/drawing/2014/main" id="{2FDF1B8C-2993-4F9E-A448-65BCEA037EA5}"/>
              </a:ext>
            </a:extLst>
          </p:cNvPr>
          <p:cNvSpPr>
            <a:spLocks xmlns:a="http://schemas.openxmlformats.org/drawingml/2006/main" noGrp="1"/>
          </p:cNvSpPr>
          <p:nvPr/>
        </p:nvSpPr>
        <p:spPr>
          <a:xfrm xmlns:a="http://schemas.openxmlformats.org/drawingml/2006/main">
            <a:off x="609600" y="2667000"/>
            <a:ext cx="108585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8324C"/>
                </a:solidFill>
                <a:latin typeface="Arial"/>
                <a:ea typeface="Arial"/>
                <a:cs typeface="Arial"/>
              </a:defRPr>
            </a:pPr>
            <a:r>
              <a:rPr sz="2250" b="0">
                <a:solidFill>
                  <a:srgbClr val="18324C"/>
                </a:solidFill>
                <a:latin typeface="Arial"/>
                <a:ea typeface="Arial"/>
                <a:cs typeface="Arial"/>
              </a:rPr>
              <a:t>Agreement measures repeatability, not semantic correctness</a:t>
            </a:r>
          </a:p>
          <a:p xmlns:a="http://schemas.openxmlformats.org/drawingml/2006/main">
            <a:r>
              <a:t/>
            </a:r>
          </a:p>
          <a:p xmlns:a="http://schemas.openxmlformats.org/drawingml/2006/main">
            <a:pPr>
              <a:defRPr sz="2250" b="0">
                <a:solidFill>
                  <a:srgbClr val="18324C"/>
                </a:solidFill>
                <a:latin typeface="Arial"/>
                <a:ea typeface="Arial"/>
                <a:cs typeface="Arial"/>
              </a:defRPr>
            </a:pPr>
            <a:r>
              <a:rPr sz="2250" b="0">
                <a:solidFill>
                  <a:srgbClr val="18324C"/>
                </a:solidFill>
                <a:latin typeface="Arial"/>
                <a:ea typeface="Arial"/>
                <a:cs typeface="Arial"/>
              </a:rPr>
              <a:t>Limits: simulated users, one backbone, finite public corpora</a:t>
            </a:r>
          </a:p>
          <a:p xmlns:a="http://schemas.openxmlformats.org/drawingml/2006/main">
            <a:r>
              <a:t/>
            </a:r>
          </a:p>
          <a:p xmlns:a="http://schemas.openxmlformats.org/drawingml/2006/main">
            <a:pPr>
              <a:defRPr sz="2250" b="0">
                <a:solidFill>
                  <a:srgbClr val="18324C"/>
                </a:solidFill>
                <a:latin typeface="Arial"/>
                <a:ea typeface="Arial"/>
                <a:cs typeface="Arial"/>
              </a:defRPr>
            </a:pPr>
            <a:r>
              <a:rPr sz="2250" b="0">
                <a:solidFill>
                  <a:srgbClr val="18324C"/>
                </a:solidFill>
                <a:latin typeface="Arial"/>
                <a:ea typeface="Arial"/>
                <a:cs typeface="Arial"/>
              </a:rPr>
              <a:t>All methods leave the original segmentation unchanged</a:t>
            </a:r>
          </a:p>
        </p:txBody>
      </p:sp>
      <p:sp>
        <p:nvSpPr>
          <p:cNvPr id="5" name="">
            <a:extLst xmlns:a="http://schemas.openxmlformats.org/drawingml/2006/main">
              <a:ext uri="{FF2B5EF4-FFF2-40B4-BE49-F238E27FC236}">
                <a16:creationId xmlns:a16="http://schemas.microsoft.com/office/drawing/2014/main" id="{ABE39226-12BD-4645-A2CB-67F8121877E2}"/>
              </a:ext>
            </a:extLst>
          </p:cNvPr>
          <p:cNvSpPr>
            <a:spLocks xmlns:a="http://schemas.openxmlformats.org/drawingml/2006/main" noGrp="1"/>
          </p:cNvSpPr>
          <p:nvPr/>
        </p:nvSpPr>
        <p:spPr>
          <a:xfrm xmlns:a="http://schemas.openxmlformats.org/drawingml/2006/main">
            <a:off x="609600" y="5476875"/>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8324C"/>
                </a:solidFill>
                <a:latin typeface="Arial"/>
                <a:ea typeface="Arial"/>
                <a:cs typeface="Arial"/>
              </a:defRPr>
            </a:pPr>
            <a:r>
              <a:rPr sz="2100" b="1">
                <a:solidFill>
                  <a:srgbClr val="18324C"/>
                </a:solidFill>
                <a:latin typeface="Arial"/>
                <a:ea typeface="Arial"/>
                <a:cs typeface="Arial"/>
              </a:rPr>
              <a:t>Code, raw observations, masks and paired intervals support every reported result</a:t>
            </a:r>
          </a:p>
        </p:txBody>
      </p:sp>
    </p:spTree>
    <p:extLst>
      <p:ext uri="{BB962C8B-B14F-4D97-AF65-F5344CB8AC3E}">
        <p14:creationId xmlns:p14="http://schemas.microsoft.com/office/powerpoint/2010/main" val="31273109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2026-10-04T00:46:59.7310000Z</dcterms:created>
  <dcterms:modified xsi:type="dcterms:W3CDTF">2026-10-04T00:46:59.7320000Z</dcterms:modified>
</coreProperties>
</file>